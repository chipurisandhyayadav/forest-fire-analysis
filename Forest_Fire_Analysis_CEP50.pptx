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287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94360"/>
            <a:ext cx="10607040" cy="384048"/>
          </a:xfrm>
          <a:prstGeom prst="rect">
            <a:avLst/>
          </a:prstGeom>
          <a:noFill/>
        </p:spPr>
        <p:txBody>
          <a:bodyPr wrap="square" lIns="73152" rIns="73152" bIns="27432">
            <a:spAutoFit/>
          </a:bodyPr>
          <a:lstStyle/>
          <a:p>
            <a:pPr>
              <a:spcAft>
                <a:spcPts val="900"/>
              </a:spcAft>
              <a:defRPr sz="1700" b="1">
                <a:solidFill>
                  <a:srgbClr val="1E3752"/>
                </a:solidFill>
                <a:latin typeface="Aptos"/>
              </a:defRPr>
            </a:pPr>
            <a:r>
              <a:t>DEPARTMENT OF INFORMATION TECHNOLOGY (IT)</a:t>
            </a:r>
          </a:p>
        </p:txBody>
      </p:sp>
      <p:sp>
        <p:nvSpPr>
          <p:cNvPr id="4" name="TextBox 3"/>
          <p:cNvSpPr txBox="1"/>
          <p:nvPr/>
        </p:nvSpPr>
        <p:spPr>
          <a:xfrm>
            <a:off x="777240" y="1024128"/>
            <a:ext cx="10698480" cy="347472"/>
          </a:xfrm>
          <a:prstGeom prst="rect">
            <a:avLst/>
          </a:prstGeom>
          <a:noFill/>
        </p:spPr>
        <p:txBody>
          <a:bodyPr wrap="square" lIns="73152" rIns="73152" bIns="27432">
            <a:spAutoFit/>
          </a:bodyPr>
          <a:lstStyle/>
          <a:p>
            <a:pPr>
              <a:spcAft>
                <a:spcPts val="900"/>
              </a:spcAft>
              <a:defRPr sz="1300" b="0">
                <a:solidFill>
                  <a:srgbClr val="646C73"/>
                </a:solidFill>
                <a:latin typeface="Aptos"/>
              </a:defRPr>
            </a:pPr>
            <a:r>
              <a:t>EXPLORATORY DATA ANALYSIS AND VISUALIZATION (EDAV) – 22AC31N</a:t>
            </a:r>
          </a:p>
        </p:txBody>
      </p:sp>
      <p:sp>
        <p:nvSpPr>
          <p:cNvPr id="5" name="TextBox 4"/>
          <p:cNvSpPr txBox="1"/>
          <p:nvPr/>
        </p:nvSpPr>
        <p:spPr>
          <a:xfrm>
            <a:off x="777240" y="1371600"/>
            <a:ext cx="10698480" cy="320040"/>
          </a:xfrm>
          <a:prstGeom prst="rect">
            <a:avLst/>
          </a:prstGeom>
          <a:noFill/>
        </p:spPr>
        <p:txBody>
          <a:bodyPr wrap="square" lIns="73152" rIns="73152" bIns="27432">
            <a:spAutoFit/>
          </a:bodyPr>
          <a:lstStyle/>
          <a:p>
            <a:pPr>
              <a:spcAft>
                <a:spcPts val="900"/>
              </a:spcAft>
              <a:defRPr sz="1200" b="0">
                <a:solidFill>
                  <a:srgbClr val="646C73"/>
                </a:solidFill>
                <a:latin typeface="Aptos"/>
              </a:defRPr>
            </a:pPr>
            <a:r>
              <a:t>B.E., IT-01, III-SEM  |  A.Y. 2026–27</a:t>
            </a:r>
          </a:p>
        </p:txBody>
      </p:sp>
      <p:sp>
        <p:nvSpPr>
          <p:cNvPr id="6" name="TextBox 5"/>
          <p:cNvSpPr txBox="1"/>
          <p:nvPr/>
        </p:nvSpPr>
        <p:spPr>
          <a:xfrm>
            <a:off x="777240" y="1965960"/>
            <a:ext cx="10607040" cy="320040"/>
          </a:xfrm>
          <a:prstGeom prst="rect">
            <a:avLst/>
          </a:prstGeom>
          <a:noFill/>
        </p:spPr>
        <p:txBody>
          <a:bodyPr wrap="square" lIns="73152" rIns="73152" bIns="27432">
            <a:spAutoFit/>
          </a:bodyPr>
          <a:lstStyle/>
          <a:p>
            <a:pPr>
              <a:spcAft>
                <a:spcPts val="900"/>
              </a:spcAft>
              <a:defRPr sz="1500" b="1">
                <a:solidFill>
                  <a:srgbClr val="287882"/>
                </a:solidFill>
                <a:latin typeface="Aptos"/>
              </a:defRPr>
            </a:pPr>
            <a:r>
              <a:t>COURSE-END PROJECT</a:t>
            </a:r>
          </a:p>
        </p:txBody>
      </p:sp>
      <p:sp>
        <p:nvSpPr>
          <p:cNvPr id="7" name="TextBox 6"/>
          <p:cNvSpPr txBox="1"/>
          <p:nvPr/>
        </p:nvSpPr>
        <p:spPr>
          <a:xfrm>
            <a:off x="777240" y="2423160"/>
            <a:ext cx="10698480" cy="1188720"/>
          </a:xfrm>
          <a:prstGeom prst="rect">
            <a:avLst/>
          </a:prstGeom>
          <a:noFill/>
        </p:spPr>
        <p:txBody>
          <a:bodyPr wrap="square" lIns="73152" rIns="73152" bIns="27432">
            <a:spAutoFit/>
          </a:bodyPr>
          <a:lstStyle/>
          <a:p>
            <a:pPr>
              <a:spcAft>
                <a:spcPts val="900"/>
              </a:spcAft>
              <a:defRPr sz="3000" b="1">
                <a:solidFill>
                  <a:srgbClr val="1E3752"/>
                </a:solidFill>
                <a:latin typeface="Aptos"/>
              </a:defRPr>
            </a:pPr>
            <a:r>
              <a:t>Analyze Forest Fire Frequency and Impact Across Regions and Seasons</a:t>
            </a:r>
          </a:p>
        </p:txBody>
      </p:sp>
      <p:sp>
        <p:nvSpPr>
          <p:cNvPr id="8" name="TextBox 7"/>
          <p:cNvSpPr txBox="1"/>
          <p:nvPr/>
        </p:nvSpPr>
        <p:spPr>
          <a:xfrm>
            <a:off x="777240" y="3977639"/>
            <a:ext cx="10424160" cy="640080"/>
          </a:xfrm>
          <a:prstGeom prst="rect">
            <a:avLst/>
          </a:prstGeom>
          <a:noFill/>
        </p:spPr>
        <p:txBody>
          <a:bodyPr wrap="square" lIns="73152" rIns="73152" bIns="27432">
            <a:spAutoFit/>
          </a:bodyPr>
          <a:lstStyle/>
          <a:p>
            <a:pPr>
              <a:spcAft>
                <a:spcPts val="900"/>
              </a:spcAft>
              <a:defRPr sz="1600" b="0">
                <a:solidFill>
                  <a:srgbClr val="2D3034"/>
                </a:solidFill>
                <a:latin typeface="Aptos"/>
              </a:defRPr>
            </a:pPr>
            <a:r>
              <a:t>BY:</a:t>
            </a:r>
          </a:p>
          <a:p>
            <a:pPr>
              <a:spcAft>
                <a:spcPts val="900"/>
              </a:spcAft>
              <a:defRPr sz="1600" b="0">
                <a:solidFill>
                  <a:srgbClr val="2D3034"/>
                </a:solidFill>
                <a:latin typeface="Aptos"/>
              </a:defRPr>
            </a:pPr>
            <a:r>
              <a:t>C. Sandhya Yadav  •  S. Harshini</a:t>
            </a:r>
          </a:p>
        </p:txBody>
      </p:sp>
      <p:sp>
        <p:nvSpPr>
          <p:cNvPr id="9" name="TextBox 8"/>
          <p:cNvSpPr txBox="1"/>
          <p:nvPr/>
        </p:nvSpPr>
        <p:spPr>
          <a:xfrm>
            <a:off x="777240" y="5074920"/>
            <a:ext cx="10424160" cy="731520"/>
          </a:xfrm>
          <a:prstGeom prst="rect">
            <a:avLst/>
          </a:prstGeom>
          <a:noFill/>
        </p:spPr>
        <p:txBody>
          <a:bodyPr wrap="square" lIns="73152" rIns="73152" bIns="27432">
            <a:spAutoFit/>
          </a:bodyPr>
          <a:lstStyle/>
          <a:p>
            <a:pPr>
              <a:spcAft>
                <a:spcPts val="900"/>
              </a:spcAft>
              <a:defRPr sz="1300" b="0">
                <a:solidFill>
                  <a:srgbClr val="646C73"/>
                </a:solidFill>
                <a:latin typeface="Aptos"/>
              </a:defRPr>
            </a:pPr>
            <a:r>
              <a:t>Course Instructor:</a:t>
            </a:r>
          </a:p>
          <a:p>
            <a:pPr>
              <a:spcAft>
                <a:spcPts val="900"/>
              </a:spcAft>
              <a:defRPr sz="1300" b="0">
                <a:solidFill>
                  <a:srgbClr val="646C73"/>
                </a:solidFill>
                <a:latin typeface="Aptos"/>
              </a:defRPr>
            </a:pPr>
            <a:r>
              <a:t>Dr. Ramakrishna Kolikipogu</a:t>
            </a:r>
          </a:p>
          <a:p>
            <a:pPr>
              <a:spcAft>
                <a:spcPts val="900"/>
              </a:spcAft>
              <a:defRPr sz="1300" b="0">
                <a:solidFill>
                  <a:srgbClr val="646C73"/>
                </a:solidFill>
                <a:latin typeface="Aptos"/>
              </a:defRPr>
            </a:pPr>
            <a:r>
              <a:t>Professor, Department of IT, CBIT</a:t>
            </a:r>
          </a:p>
        </p:txBody>
      </p:sp>
      <p:sp>
        <p:nvSpPr>
          <p:cNvPr id="10" name="TextBox 9"/>
          <p:cNvSpPr txBox="1"/>
          <p:nvPr/>
        </p:nvSpPr>
        <p:spPr>
          <a:xfrm>
            <a:off x="9875520" y="6510528"/>
            <a:ext cx="1828800" cy="182880"/>
          </a:xfrm>
          <a:prstGeom prst="rect">
            <a:avLst/>
          </a:prstGeom>
          <a:noFill/>
        </p:spPr>
        <p:txBody>
          <a:bodyPr wrap="none">
            <a:spAutoFit/>
          </a:bodyPr>
          <a:lstStyle/>
          <a:p>
            <a:pPr algn="r">
              <a:defRPr sz="800">
                <a:solidFill>
                  <a:srgbClr val="646C73"/>
                </a:solidFill>
              </a:defRPr>
            </a:pPr>
            <a:r>
              <a:t>EDAV • COURSE-END PROJECT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none">
            <a:spAutoFit/>
          </a:bodyPr>
          <a:lstStyle/>
          <a:p>
            <a:pPr>
              <a:defRPr sz="2500" b="1">
                <a:solidFill>
                  <a:srgbClr val="1E3752"/>
                </a:solidFill>
                <a:latin typeface="Aptos Display"/>
              </a:defRPr>
            </a:pPr>
            <a:r>
              <a:t>ABSTRACT</a:t>
            </a:r>
          </a:p>
        </p:txBody>
      </p:sp>
      <p:sp>
        <p:nvSpPr>
          <p:cNvPr id="3" name="Rectangle 2"/>
          <p:cNvSpPr/>
          <p:nvPr/>
        </p:nvSpPr>
        <p:spPr>
          <a:xfrm>
            <a:off x="530352" y="1170432"/>
            <a:ext cx="11109960" cy="32004"/>
          </a:xfrm>
          <a:prstGeom prst="rect">
            <a:avLst/>
          </a:prstGeom>
          <a:solidFill>
            <a:srgbClr val="287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08760"/>
            <a:ext cx="10698480" cy="3017520"/>
          </a:xfrm>
          <a:prstGeom prst="rect">
            <a:avLst/>
          </a:prstGeom>
          <a:noFill/>
        </p:spPr>
        <p:txBody>
          <a:bodyPr wrap="square" lIns="73152" rIns="73152" bIns="27432">
            <a:spAutoFit/>
          </a:bodyPr>
          <a:lstStyle/>
          <a:p>
            <a:pPr>
              <a:spcAft>
                <a:spcPts val="900"/>
              </a:spcAft>
              <a:defRPr sz="1800" b="0">
                <a:solidFill>
                  <a:srgbClr val="2D3034"/>
                </a:solidFill>
                <a:latin typeface="Aptos"/>
              </a:defRPr>
            </a:pPr>
            <a:r>
              <a:t>This project studies how forest fire frequency and estimated burned area vary across regions and seasons. The provided Excel dataset contains monthly records for 62 regions during 2024. Python, Pandas and NumPy are used to inspect, clean and summarize the data, while Matplotlib and Seaborn are used to create clear visualizations. The analysis calculates average fire incidence, filters records for a selected region, handles missing numeric values, and groups fire counts by season and region. Subplots are used to compare patterns in one figure. The results can help readers understand where and when the dataset reports more fire activity. The supplied dataset is labelled simulated/educational, so the findings are for learning and demonstration and should not be treated as verified real-world fire statistics.</a:t>
            </a:r>
          </a:p>
        </p:txBody>
      </p:sp>
      <p:sp>
        <p:nvSpPr>
          <p:cNvPr id="5" name="TextBox 4"/>
          <p:cNvSpPr txBox="1"/>
          <p:nvPr/>
        </p:nvSpPr>
        <p:spPr>
          <a:xfrm>
            <a:off x="731520" y="4800600"/>
            <a:ext cx="10789920" cy="914400"/>
          </a:xfrm>
          <a:prstGeom prst="rect">
            <a:avLst/>
          </a:prstGeom>
          <a:noFill/>
        </p:spPr>
        <p:txBody>
          <a:bodyPr wrap="square" lIns="73152" rIns="73152" bIns="27432">
            <a:spAutoFit/>
          </a:bodyPr>
          <a:lstStyle/>
          <a:p>
            <a:pPr>
              <a:spcAft>
                <a:spcPts val="900"/>
              </a:spcAft>
              <a:defRPr sz="1400" b="1">
                <a:solidFill>
                  <a:srgbClr val="287882"/>
                </a:solidFill>
                <a:latin typeface="Aptos"/>
              </a:defRPr>
            </a:pPr>
            <a:r>
              <a:t>KEYWORDS: Forest Fire  |  Frequency  |  Burned Area  |  Region  |  Season  |  Visualization</a:t>
            </a:r>
          </a:p>
        </p:txBody>
      </p:sp>
      <p:sp>
        <p:nvSpPr>
          <p:cNvPr id="6" name="TextBox 5"/>
          <p:cNvSpPr txBox="1"/>
          <p:nvPr/>
        </p:nvSpPr>
        <p:spPr>
          <a:xfrm>
            <a:off x="9875520" y="6510528"/>
            <a:ext cx="1828800" cy="182880"/>
          </a:xfrm>
          <a:prstGeom prst="rect">
            <a:avLst/>
          </a:prstGeom>
          <a:noFill/>
        </p:spPr>
        <p:txBody>
          <a:bodyPr wrap="none">
            <a:spAutoFit/>
          </a:bodyPr>
          <a:lstStyle/>
          <a:p>
            <a:pPr algn="r">
              <a:defRPr sz="800">
                <a:solidFill>
                  <a:srgbClr val="646C73"/>
                </a:solidFill>
              </a:defRPr>
            </a:pPr>
            <a:r>
              <a:t>EDAV • COURSE-END PROJECT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none">
            <a:spAutoFit/>
          </a:bodyPr>
          <a:lstStyle/>
          <a:p>
            <a:pPr>
              <a:defRPr sz="2500" b="1">
                <a:solidFill>
                  <a:srgbClr val="1E3752"/>
                </a:solidFill>
                <a:latin typeface="Aptos Display"/>
              </a:defRPr>
            </a:pPr>
            <a:r>
              <a:t>OBJECTIVES &amp; OUTCOMES</a:t>
            </a:r>
          </a:p>
        </p:txBody>
      </p:sp>
      <p:sp>
        <p:nvSpPr>
          <p:cNvPr id="3" name="Rectangle 2"/>
          <p:cNvSpPr/>
          <p:nvPr/>
        </p:nvSpPr>
        <p:spPr>
          <a:xfrm>
            <a:off x="530352" y="1170432"/>
            <a:ext cx="11109960" cy="32004"/>
          </a:xfrm>
          <a:prstGeom prst="rect">
            <a:avLst/>
          </a:prstGeom>
          <a:solidFill>
            <a:srgbClr val="287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81328"/>
            <a:ext cx="5166360" cy="365760"/>
          </a:xfrm>
          <a:prstGeom prst="rect">
            <a:avLst/>
          </a:prstGeom>
          <a:noFill/>
        </p:spPr>
        <p:txBody>
          <a:bodyPr wrap="square" lIns="73152" rIns="73152" bIns="27432">
            <a:spAutoFit/>
          </a:bodyPr>
          <a:lstStyle/>
          <a:p>
            <a:pPr>
              <a:spcAft>
                <a:spcPts val="900"/>
              </a:spcAft>
              <a:defRPr sz="1800" b="1">
                <a:solidFill>
                  <a:srgbClr val="287882"/>
                </a:solidFill>
                <a:latin typeface="Aptos"/>
              </a:defRPr>
            </a:pPr>
            <a:r>
              <a:t>OBJECTIVES</a:t>
            </a:r>
          </a:p>
        </p:txBody>
      </p:sp>
      <p:sp>
        <p:nvSpPr>
          <p:cNvPr id="5" name="TextBox 4"/>
          <p:cNvSpPr txBox="1"/>
          <p:nvPr/>
        </p:nvSpPr>
        <p:spPr>
          <a:xfrm>
            <a:off x="777240" y="1938528"/>
            <a:ext cx="5120640" cy="3474720"/>
          </a:xfrm>
          <a:prstGeom prst="rect">
            <a:avLst/>
          </a:prstGeom>
          <a:noFill/>
        </p:spPr>
        <p:txBody>
          <a:bodyPr wrap="square" lIns="73152" rIns="73152" bIns="27432">
            <a:spAutoFit/>
          </a:bodyPr>
          <a:lstStyle/>
          <a:p>
            <a:pPr>
              <a:spcAft>
                <a:spcPts val="900"/>
              </a:spcAft>
              <a:defRPr sz="1600" b="0">
                <a:solidFill>
                  <a:srgbClr val="2D3034"/>
                </a:solidFill>
                <a:latin typeface="Aptos"/>
              </a:defRPr>
            </a:pPr>
            <a:r>
              <a:t>•  Calculate the average fire frequency in the dataset.</a:t>
            </a:r>
          </a:p>
          <a:p>
            <a:pPr>
              <a:spcAft>
                <a:spcPts val="900"/>
              </a:spcAft>
              <a:defRPr sz="1600" b="0">
                <a:solidFill>
                  <a:srgbClr val="2D3034"/>
                </a:solidFill>
                <a:latin typeface="Aptos"/>
              </a:defRPr>
            </a:pPr>
            <a:r>
              <a:t>•  Filter fire records for a selected region.</a:t>
            </a:r>
          </a:p>
          <a:p>
            <a:pPr>
              <a:spcAft>
                <a:spcPts val="900"/>
              </a:spcAft>
              <a:defRPr sz="1600" b="0">
                <a:solidFill>
                  <a:srgbClr val="2D3034"/>
                </a:solidFill>
                <a:latin typeface="Aptos"/>
              </a:defRPr>
            </a:pPr>
            <a:r>
              <a:t>•  Identify and handle missing fire and burned-area values.</a:t>
            </a:r>
          </a:p>
          <a:p>
            <a:pPr>
              <a:spcAft>
                <a:spcPts val="900"/>
              </a:spcAft>
              <a:defRPr sz="1600" b="0">
                <a:solidFill>
                  <a:srgbClr val="2D3034"/>
                </a:solidFill>
                <a:latin typeface="Aptos"/>
              </a:defRPr>
            </a:pPr>
            <a:r>
              <a:t>•  Group fire counts by season and region.</a:t>
            </a:r>
          </a:p>
          <a:p>
            <a:pPr>
              <a:spcAft>
                <a:spcPts val="900"/>
              </a:spcAft>
              <a:defRPr sz="1600" b="0">
                <a:solidFill>
                  <a:srgbClr val="2D3034"/>
                </a:solidFill>
                <a:latin typeface="Aptos"/>
              </a:defRPr>
            </a:pPr>
            <a:r>
              <a:t>•  Visualize frequency patterns using plots and subplots.</a:t>
            </a:r>
          </a:p>
        </p:txBody>
      </p:sp>
      <p:sp>
        <p:nvSpPr>
          <p:cNvPr id="6" name="TextBox 5"/>
          <p:cNvSpPr txBox="1"/>
          <p:nvPr/>
        </p:nvSpPr>
        <p:spPr>
          <a:xfrm>
            <a:off x="6217920" y="1481328"/>
            <a:ext cx="5166360" cy="365760"/>
          </a:xfrm>
          <a:prstGeom prst="rect">
            <a:avLst/>
          </a:prstGeom>
          <a:noFill/>
        </p:spPr>
        <p:txBody>
          <a:bodyPr wrap="square" lIns="73152" rIns="73152" bIns="27432">
            <a:spAutoFit/>
          </a:bodyPr>
          <a:lstStyle/>
          <a:p>
            <a:pPr>
              <a:spcAft>
                <a:spcPts val="900"/>
              </a:spcAft>
              <a:defRPr sz="1800" b="1">
                <a:solidFill>
                  <a:srgbClr val="287882"/>
                </a:solidFill>
                <a:latin typeface="Aptos"/>
              </a:defRPr>
            </a:pPr>
            <a:r>
              <a:t>OUTCOMES</a:t>
            </a:r>
          </a:p>
        </p:txBody>
      </p:sp>
      <p:sp>
        <p:nvSpPr>
          <p:cNvPr id="7" name="TextBox 6"/>
          <p:cNvSpPr txBox="1"/>
          <p:nvPr/>
        </p:nvSpPr>
        <p:spPr>
          <a:xfrm>
            <a:off x="6263640" y="1938528"/>
            <a:ext cx="5074920" cy="3474720"/>
          </a:xfrm>
          <a:prstGeom prst="rect">
            <a:avLst/>
          </a:prstGeom>
          <a:noFill/>
        </p:spPr>
        <p:txBody>
          <a:bodyPr wrap="square" lIns="73152" rIns="73152" bIns="27432">
            <a:spAutoFit/>
          </a:bodyPr>
          <a:lstStyle/>
          <a:p>
            <a:pPr>
              <a:spcAft>
                <a:spcPts val="900"/>
              </a:spcAft>
              <a:defRPr sz="1600" b="0">
                <a:solidFill>
                  <a:srgbClr val="2D3034"/>
                </a:solidFill>
                <a:latin typeface="Aptos"/>
              </a:defRPr>
            </a:pPr>
            <a:r>
              <a:t>•  A summary of average fire incidence.</a:t>
            </a:r>
          </a:p>
          <a:p>
            <a:pPr>
              <a:spcAft>
                <a:spcPts val="900"/>
              </a:spcAft>
              <a:defRPr sz="1600" b="0">
                <a:solidFill>
                  <a:srgbClr val="2D3034"/>
                </a:solidFill>
                <a:latin typeface="Aptos"/>
              </a:defRPr>
            </a:pPr>
            <a:r>
              <a:t>•  A region-wise subset for focused analysis.</a:t>
            </a:r>
          </a:p>
          <a:p>
            <a:pPr>
              <a:spcAft>
                <a:spcPts val="900"/>
              </a:spcAft>
              <a:defRPr sz="1600" b="0">
                <a:solidFill>
                  <a:srgbClr val="2D3034"/>
                </a:solidFill>
                <a:latin typeface="Aptos"/>
              </a:defRPr>
            </a:pPr>
            <a:r>
              <a:t>•  A cleaned dataset with missing values treated transparently.</a:t>
            </a:r>
          </a:p>
          <a:p>
            <a:pPr>
              <a:spcAft>
                <a:spcPts val="900"/>
              </a:spcAft>
              <a:defRPr sz="1600" b="0">
                <a:solidFill>
                  <a:srgbClr val="2D3034"/>
                </a:solidFill>
                <a:latin typeface="Aptos"/>
              </a:defRPr>
            </a:pPr>
            <a:r>
              <a:t>•  Seasonal and regional comparison tables.</a:t>
            </a:r>
          </a:p>
          <a:p>
            <a:pPr>
              <a:spcAft>
                <a:spcPts val="900"/>
              </a:spcAft>
              <a:defRPr sz="1600" b="0">
                <a:solidFill>
                  <a:srgbClr val="2D3034"/>
                </a:solidFill>
                <a:latin typeface="Aptos"/>
              </a:defRPr>
            </a:pPr>
            <a:r>
              <a:t>•  Charts that make differences and trends easier to see.</a:t>
            </a:r>
          </a:p>
        </p:txBody>
      </p:sp>
      <p:sp>
        <p:nvSpPr>
          <p:cNvPr id="8" name="TextBox 7"/>
          <p:cNvSpPr txBox="1"/>
          <p:nvPr/>
        </p:nvSpPr>
        <p:spPr>
          <a:xfrm>
            <a:off x="9875520" y="6510528"/>
            <a:ext cx="1828800" cy="182880"/>
          </a:xfrm>
          <a:prstGeom prst="rect">
            <a:avLst/>
          </a:prstGeom>
          <a:noFill/>
        </p:spPr>
        <p:txBody>
          <a:bodyPr wrap="none">
            <a:spAutoFit/>
          </a:bodyPr>
          <a:lstStyle/>
          <a:p>
            <a:pPr algn="r">
              <a:defRPr sz="800">
                <a:solidFill>
                  <a:srgbClr val="646C73"/>
                </a:solidFill>
              </a:defRPr>
            </a:pPr>
            <a:r>
              <a:t>EDAV • COURSE-END PROJECT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none">
            <a:spAutoFit/>
          </a:bodyPr>
          <a:lstStyle/>
          <a:p>
            <a:pPr>
              <a:defRPr sz="2500" b="1">
                <a:solidFill>
                  <a:srgbClr val="1E3752"/>
                </a:solidFill>
                <a:latin typeface="Aptos Display"/>
              </a:defRPr>
            </a:pPr>
            <a:r>
              <a:t>PROBLEM &amp; MOTIVATION</a:t>
            </a:r>
          </a:p>
        </p:txBody>
      </p:sp>
      <p:sp>
        <p:nvSpPr>
          <p:cNvPr id="3" name="Rectangle 2"/>
          <p:cNvSpPr/>
          <p:nvPr/>
        </p:nvSpPr>
        <p:spPr>
          <a:xfrm>
            <a:off x="530352" y="1170432"/>
            <a:ext cx="11109960" cy="32004"/>
          </a:xfrm>
          <a:prstGeom prst="rect">
            <a:avLst/>
          </a:prstGeom>
          <a:solidFill>
            <a:srgbClr val="287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81328"/>
            <a:ext cx="5212080" cy="320040"/>
          </a:xfrm>
          <a:prstGeom prst="rect">
            <a:avLst/>
          </a:prstGeom>
          <a:noFill/>
        </p:spPr>
        <p:txBody>
          <a:bodyPr wrap="square" lIns="73152" rIns="73152" bIns="27432">
            <a:spAutoFit/>
          </a:bodyPr>
          <a:lstStyle/>
          <a:p>
            <a:pPr>
              <a:spcAft>
                <a:spcPts val="900"/>
              </a:spcAft>
              <a:defRPr sz="1700" b="1">
                <a:solidFill>
                  <a:srgbClr val="287882"/>
                </a:solidFill>
                <a:latin typeface="Aptos"/>
              </a:defRPr>
            </a:pPr>
            <a:r>
              <a:t>PROBLEM STATEMENT</a:t>
            </a:r>
          </a:p>
        </p:txBody>
      </p:sp>
      <p:sp>
        <p:nvSpPr>
          <p:cNvPr id="5" name="TextBox 4"/>
          <p:cNvSpPr txBox="1"/>
          <p:nvPr/>
        </p:nvSpPr>
        <p:spPr>
          <a:xfrm>
            <a:off x="777240" y="1901952"/>
            <a:ext cx="5120640" cy="1828800"/>
          </a:xfrm>
          <a:prstGeom prst="rect">
            <a:avLst/>
          </a:prstGeom>
          <a:noFill/>
        </p:spPr>
        <p:txBody>
          <a:bodyPr wrap="square" lIns="73152" rIns="73152" bIns="27432">
            <a:spAutoFit/>
          </a:bodyPr>
          <a:lstStyle/>
          <a:p>
            <a:pPr>
              <a:spcAft>
                <a:spcPts val="900"/>
              </a:spcAft>
              <a:defRPr sz="1500" b="0">
                <a:solidFill>
                  <a:srgbClr val="2D3034"/>
                </a:solidFill>
                <a:latin typeface="Aptos"/>
              </a:defRPr>
            </a:pPr>
            <a:r>
              <a:t>•  Fire records are spread across regions and months.</a:t>
            </a:r>
          </a:p>
          <a:p>
            <a:pPr>
              <a:spcAft>
                <a:spcPts val="900"/>
              </a:spcAft>
              <a:defRPr sz="1500" b="0">
                <a:solidFill>
                  <a:srgbClr val="2D3034"/>
                </a:solidFill>
                <a:latin typeface="Aptos"/>
              </a:defRPr>
            </a:pPr>
            <a:r>
              <a:t>•  Direct comparison is difficult without grouping and visualization.</a:t>
            </a:r>
          </a:p>
          <a:p>
            <a:pPr>
              <a:spcAft>
                <a:spcPts val="900"/>
              </a:spcAft>
              <a:defRPr sz="1500" b="0">
                <a:solidFill>
                  <a:srgbClr val="2D3034"/>
                </a:solidFill>
                <a:latin typeface="Aptos"/>
              </a:defRPr>
            </a:pPr>
            <a:r>
              <a:t>•  Missing values can affect averages if they are not handled carefully.</a:t>
            </a:r>
          </a:p>
        </p:txBody>
      </p:sp>
      <p:sp>
        <p:nvSpPr>
          <p:cNvPr id="6" name="TextBox 5"/>
          <p:cNvSpPr txBox="1"/>
          <p:nvPr/>
        </p:nvSpPr>
        <p:spPr>
          <a:xfrm>
            <a:off x="6217920" y="1481328"/>
            <a:ext cx="5212080" cy="320040"/>
          </a:xfrm>
          <a:prstGeom prst="rect">
            <a:avLst/>
          </a:prstGeom>
          <a:noFill/>
        </p:spPr>
        <p:txBody>
          <a:bodyPr wrap="square" lIns="73152" rIns="73152" bIns="27432">
            <a:spAutoFit/>
          </a:bodyPr>
          <a:lstStyle/>
          <a:p>
            <a:pPr>
              <a:spcAft>
                <a:spcPts val="900"/>
              </a:spcAft>
              <a:defRPr sz="1700" b="1">
                <a:solidFill>
                  <a:srgbClr val="287882"/>
                </a:solidFill>
                <a:latin typeface="Aptos"/>
              </a:defRPr>
            </a:pPr>
            <a:r>
              <a:t>MOTIVATION</a:t>
            </a:r>
          </a:p>
        </p:txBody>
      </p:sp>
      <p:sp>
        <p:nvSpPr>
          <p:cNvPr id="7" name="TextBox 6"/>
          <p:cNvSpPr txBox="1"/>
          <p:nvPr/>
        </p:nvSpPr>
        <p:spPr>
          <a:xfrm>
            <a:off x="6263640" y="1901952"/>
            <a:ext cx="5029200" cy="1828800"/>
          </a:xfrm>
          <a:prstGeom prst="rect">
            <a:avLst/>
          </a:prstGeom>
          <a:noFill/>
        </p:spPr>
        <p:txBody>
          <a:bodyPr wrap="square" lIns="73152" rIns="73152" bIns="27432">
            <a:spAutoFit/>
          </a:bodyPr>
          <a:lstStyle/>
          <a:p>
            <a:pPr>
              <a:spcAft>
                <a:spcPts val="900"/>
              </a:spcAft>
              <a:defRPr sz="1500" b="0">
                <a:solidFill>
                  <a:srgbClr val="2D3034"/>
                </a:solidFill>
                <a:latin typeface="Aptos"/>
              </a:defRPr>
            </a:pPr>
            <a:r>
              <a:t>•  Understand how fire frequency differs by region and season.</a:t>
            </a:r>
          </a:p>
          <a:p>
            <a:pPr>
              <a:spcAft>
                <a:spcPts val="900"/>
              </a:spcAft>
              <a:defRPr sz="1500" b="0">
                <a:solidFill>
                  <a:srgbClr val="2D3034"/>
                </a:solidFill>
                <a:latin typeface="Aptos"/>
              </a:defRPr>
            </a:pPr>
            <a:r>
              <a:t>•  Compare fire counts with estimated burned area.</a:t>
            </a:r>
          </a:p>
          <a:p>
            <a:pPr>
              <a:spcAft>
                <a:spcPts val="900"/>
              </a:spcAft>
              <a:defRPr sz="1500" b="0">
                <a:solidFill>
                  <a:srgbClr val="2D3034"/>
                </a:solidFill>
                <a:latin typeface="Aptos"/>
              </a:defRPr>
            </a:pPr>
            <a:r>
              <a:t>•  Use simple data analysis to communicate patterns clearly.</a:t>
            </a:r>
          </a:p>
        </p:txBody>
      </p:sp>
      <p:sp>
        <p:nvSpPr>
          <p:cNvPr id="8" name="TextBox 7"/>
          <p:cNvSpPr txBox="1"/>
          <p:nvPr/>
        </p:nvSpPr>
        <p:spPr>
          <a:xfrm>
            <a:off x="777240" y="4251960"/>
            <a:ext cx="10607040" cy="1143000"/>
          </a:xfrm>
          <a:prstGeom prst="rect">
            <a:avLst/>
          </a:prstGeom>
          <a:noFill/>
        </p:spPr>
        <p:txBody>
          <a:bodyPr wrap="square" lIns="73152" rIns="73152" bIns="27432">
            <a:spAutoFit/>
          </a:bodyPr>
          <a:lstStyle/>
          <a:p>
            <a:pPr>
              <a:spcAft>
                <a:spcPts val="900"/>
              </a:spcAft>
              <a:defRPr sz="1300" b="0">
                <a:solidFill>
                  <a:srgbClr val="646C73"/>
                </a:solidFill>
                <a:latin typeface="Aptos"/>
              </a:defRPr>
            </a:pPr>
            <a:r>
              <a:t>DATASET: forest_fire_dataset_one_sheet.xlsx  |  744 monthly records  |  62 regions  |  Year: 2024</a:t>
            </a:r>
          </a:p>
          <a:p>
            <a:pPr>
              <a:spcAft>
                <a:spcPts val="900"/>
              </a:spcAft>
              <a:defRPr sz="1300" b="0">
                <a:solidFill>
                  <a:srgbClr val="646C73"/>
                </a:solidFill>
                <a:latin typeface="Aptos"/>
              </a:defRPr>
            </a:pPr>
            <a:r>
              <a:t>IMPORTANT NOTE: The dataset itself labels its records “SIMULATED / EDUCATIONAL — not observed fire records.” Therefore, this project demonstrates analysis methods and does not make claims about actual fire events.</a:t>
            </a:r>
          </a:p>
        </p:txBody>
      </p:sp>
      <p:sp>
        <p:nvSpPr>
          <p:cNvPr id="9" name="TextBox 8"/>
          <p:cNvSpPr txBox="1"/>
          <p:nvPr/>
        </p:nvSpPr>
        <p:spPr>
          <a:xfrm>
            <a:off x="9875520" y="6510528"/>
            <a:ext cx="1828800" cy="182880"/>
          </a:xfrm>
          <a:prstGeom prst="rect">
            <a:avLst/>
          </a:prstGeom>
          <a:noFill/>
        </p:spPr>
        <p:txBody>
          <a:bodyPr wrap="none">
            <a:spAutoFit/>
          </a:bodyPr>
          <a:lstStyle/>
          <a:p>
            <a:pPr algn="r">
              <a:defRPr sz="800">
                <a:solidFill>
                  <a:srgbClr val="646C73"/>
                </a:solidFill>
              </a:defRPr>
            </a:pPr>
            <a:r>
              <a:t>EDAV • COURSE-END PROJECT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none">
            <a:spAutoFit/>
          </a:bodyPr>
          <a:lstStyle/>
          <a:p>
            <a:pPr>
              <a:defRPr sz="2500" b="1">
                <a:solidFill>
                  <a:srgbClr val="1E3752"/>
                </a:solidFill>
                <a:latin typeface="Aptos Display"/>
              </a:defRPr>
            </a:pPr>
            <a:r>
              <a:t>TECHNOLOGY STACK &amp; DATASET</a:t>
            </a:r>
          </a:p>
        </p:txBody>
      </p:sp>
      <p:sp>
        <p:nvSpPr>
          <p:cNvPr id="3" name="Rectangle 2"/>
          <p:cNvSpPr/>
          <p:nvPr/>
        </p:nvSpPr>
        <p:spPr>
          <a:xfrm>
            <a:off x="530352" y="1170432"/>
            <a:ext cx="11109960" cy="32004"/>
          </a:xfrm>
          <a:prstGeom prst="rect">
            <a:avLst/>
          </a:prstGeom>
          <a:solidFill>
            <a:srgbClr val="287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508760"/>
          <a:ext cx="5212080" cy="3383280"/>
        </p:xfrm>
        <a:graphic>
          <a:graphicData uri="http://schemas.openxmlformats.org/drawingml/2006/table">
            <a:tbl>
              <a:tblPr firstRow="1" bandRow="1">
                <a:tableStyleId>{5C22544A-7EE6-4342-B048-85BDC9FD1C3A}</a:tableStyleId>
              </a:tblPr>
              <a:tblGrid>
                <a:gridCol w="1828800"/>
                <a:gridCol w="3383280"/>
              </a:tblGrid>
              <a:tr h="563880">
                <a:tc>
                  <a:txBody>
                    <a:bodyPr/>
                    <a:lstStyle/>
                    <a:p>
                      <a:pPr>
                        <a:defRPr sz="1200" b="1">
                          <a:solidFill>
                            <a:srgbClr val="FFFFFF"/>
                          </a:solidFill>
                        </a:defRPr>
                      </a:pPr>
                      <a:r>
                        <a:t>Component</a:t>
                      </a:r>
                    </a:p>
                  </a:txBody>
                  <a:tcPr>
                    <a:solidFill>
                      <a:srgbClr val="1E3752"/>
                    </a:solidFill>
                  </a:tcPr>
                </a:tc>
                <a:tc>
                  <a:txBody>
                    <a:bodyPr/>
                    <a:lstStyle/>
                    <a:p>
                      <a:pPr>
                        <a:defRPr sz="1200" b="1">
                          <a:solidFill>
                            <a:srgbClr val="FFFFFF"/>
                          </a:solidFill>
                        </a:defRPr>
                      </a:pPr>
                      <a:r>
                        <a:t>Technology</a:t>
                      </a:r>
                    </a:p>
                  </a:txBody>
                  <a:tcPr>
                    <a:solidFill>
                      <a:srgbClr val="1E3752"/>
                    </a:solidFill>
                  </a:tcPr>
                </a:tc>
              </a:tr>
              <a:tr h="563880">
                <a:tc>
                  <a:txBody>
                    <a:bodyPr/>
                    <a:lstStyle/>
                    <a:p>
                      <a:pPr>
                        <a:defRPr sz="1200" b="0">
                          <a:solidFill>
                            <a:srgbClr val="2D3034"/>
                          </a:solidFill>
                        </a:defRPr>
                      </a:pPr>
                      <a:r>
                        <a:t>Programming</a:t>
                      </a:r>
                    </a:p>
                  </a:txBody>
                  <a:tcPr>
                    <a:solidFill>
                      <a:srgbClr val="EEF4F5"/>
                    </a:solidFill>
                  </a:tcPr>
                </a:tc>
                <a:tc>
                  <a:txBody>
                    <a:bodyPr/>
                    <a:lstStyle/>
                    <a:p>
                      <a:pPr>
                        <a:defRPr sz="1200" b="0">
                          <a:solidFill>
                            <a:srgbClr val="2D3034"/>
                          </a:solidFill>
                        </a:defRPr>
                      </a:pPr>
                      <a:r>
                        <a:t>Python 3.x</a:t>
                      </a:r>
                    </a:p>
                  </a:txBody>
                  <a:tcPr>
                    <a:solidFill>
                      <a:srgbClr val="EEF4F5"/>
                    </a:solidFill>
                  </a:tcPr>
                </a:tc>
              </a:tr>
              <a:tr h="563880">
                <a:tc>
                  <a:txBody>
                    <a:bodyPr/>
                    <a:lstStyle/>
                    <a:p>
                      <a:pPr>
                        <a:defRPr sz="1200" b="0">
                          <a:solidFill>
                            <a:srgbClr val="2D3034"/>
                          </a:solidFill>
                        </a:defRPr>
                      </a:pPr>
                      <a:r>
                        <a:t>Data handling</a:t>
                      </a:r>
                    </a:p>
                  </a:txBody>
                  <a:tcPr>
                    <a:solidFill>
                      <a:srgbClr val="FFFFFF"/>
                    </a:solidFill>
                  </a:tcPr>
                </a:tc>
                <a:tc>
                  <a:txBody>
                    <a:bodyPr/>
                    <a:lstStyle/>
                    <a:p>
                      <a:pPr>
                        <a:defRPr sz="1200" b="0">
                          <a:solidFill>
                            <a:srgbClr val="2D3034"/>
                          </a:solidFill>
                        </a:defRPr>
                      </a:pPr>
                      <a:r>
                        <a:t>Pandas</a:t>
                      </a:r>
                    </a:p>
                  </a:txBody>
                  <a:tcPr>
                    <a:solidFill>
                      <a:srgbClr val="FFFFFF"/>
                    </a:solidFill>
                  </a:tcPr>
                </a:tc>
              </a:tr>
              <a:tr h="563880">
                <a:tc>
                  <a:txBody>
                    <a:bodyPr/>
                    <a:lstStyle/>
                    <a:p>
                      <a:pPr>
                        <a:defRPr sz="1200" b="0">
                          <a:solidFill>
                            <a:srgbClr val="2D3034"/>
                          </a:solidFill>
                        </a:defRPr>
                      </a:pPr>
                      <a:r>
                        <a:t>Numerical analysis</a:t>
                      </a:r>
                    </a:p>
                  </a:txBody>
                  <a:tcPr>
                    <a:solidFill>
                      <a:srgbClr val="EEF4F5"/>
                    </a:solidFill>
                  </a:tcPr>
                </a:tc>
                <a:tc>
                  <a:txBody>
                    <a:bodyPr/>
                    <a:lstStyle/>
                    <a:p>
                      <a:pPr>
                        <a:defRPr sz="1200" b="0">
                          <a:solidFill>
                            <a:srgbClr val="2D3034"/>
                          </a:solidFill>
                        </a:defRPr>
                      </a:pPr>
                      <a:r>
                        <a:t>NumPy</a:t>
                      </a:r>
                    </a:p>
                  </a:txBody>
                  <a:tcPr>
                    <a:solidFill>
                      <a:srgbClr val="EEF4F5"/>
                    </a:solidFill>
                  </a:tcPr>
                </a:tc>
              </a:tr>
              <a:tr h="563880">
                <a:tc>
                  <a:txBody>
                    <a:bodyPr/>
                    <a:lstStyle/>
                    <a:p>
                      <a:pPr>
                        <a:defRPr sz="1200" b="0">
                          <a:solidFill>
                            <a:srgbClr val="2D3034"/>
                          </a:solidFill>
                        </a:defRPr>
                      </a:pPr>
                      <a:r>
                        <a:t>Visualization</a:t>
                      </a:r>
                    </a:p>
                  </a:txBody>
                  <a:tcPr>
                    <a:solidFill>
                      <a:srgbClr val="FFFFFF"/>
                    </a:solidFill>
                  </a:tcPr>
                </a:tc>
                <a:tc>
                  <a:txBody>
                    <a:bodyPr/>
                    <a:lstStyle/>
                    <a:p>
                      <a:pPr>
                        <a:defRPr sz="1200" b="0">
                          <a:solidFill>
                            <a:srgbClr val="2D3034"/>
                          </a:solidFill>
                        </a:defRPr>
                      </a:pPr>
                      <a:r>
                        <a:t>Matplotlib, Seaborn</a:t>
                      </a:r>
                    </a:p>
                  </a:txBody>
                  <a:tcPr>
                    <a:solidFill>
                      <a:srgbClr val="FFFFFF"/>
                    </a:solidFill>
                  </a:tcPr>
                </a:tc>
              </a:tr>
              <a:tr h="563880">
                <a:tc>
                  <a:txBody>
                    <a:bodyPr/>
                    <a:lstStyle/>
                    <a:p>
                      <a:pPr>
                        <a:defRPr sz="1200" b="0">
                          <a:solidFill>
                            <a:srgbClr val="2D3034"/>
                          </a:solidFill>
                        </a:defRPr>
                      </a:pPr>
                      <a:r>
                        <a:t>Platform</a:t>
                      </a:r>
                    </a:p>
                  </a:txBody>
                  <a:tcPr>
                    <a:solidFill>
                      <a:srgbClr val="EEF4F5"/>
                    </a:solidFill>
                  </a:tcPr>
                </a:tc>
                <a:tc>
                  <a:txBody>
                    <a:bodyPr/>
                    <a:lstStyle/>
                    <a:p>
                      <a:pPr>
                        <a:defRPr sz="1200" b="0">
                          <a:solidFill>
                            <a:srgbClr val="2D3034"/>
                          </a:solidFill>
                        </a:defRPr>
                      </a:pPr>
                      <a:r>
                        <a:t>Google Colab / Jupyter</a:t>
                      </a:r>
                    </a:p>
                  </a:txBody>
                  <a:tcPr>
                    <a:solidFill>
                      <a:srgbClr val="EEF4F5"/>
                    </a:solidFill>
                  </a:tcPr>
                </a:tc>
              </a:tr>
            </a:tbl>
          </a:graphicData>
        </a:graphic>
      </p:graphicFrame>
      <p:sp>
        <p:nvSpPr>
          <p:cNvPr id="5" name="TextBox 4"/>
          <p:cNvSpPr txBox="1"/>
          <p:nvPr/>
        </p:nvSpPr>
        <p:spPr>
          <a:xfrm>
            <a:off x="6309360" y="1508760"/>
            <a:ext cx="4937760" cy="320040"/>
          </a:xfrm>
          <a:prstGeom prst="rect">
            <a:avLst/>
          </a:prstGeom>
          <a:noFill/>
        </p:spPr>
        <p:txBody>
          <a:bodyPr wrap="square" lIns="73152" rIns="73152" bIns="27432">
            <a:spAutoFit/>
          </a:bodyPr>
          <a:lstStyle/>
          <a:p>
            <a:pPr>
              <a:spcAft>
                <a:spcPts val="900"/>
              </a:spcAft>
              <a:defRPr sz="1700" b="1">
                <a:solidFill>
                  <a:srgbClr val="287882"/>
                </a:solidFill>
                <a:latin typeface="Aptos"/>
              </a:defRPr>
            </a:pPr>
            <a:r>
              <a:t>DATASET OVERVIEW</a:t>
            </a:r>
          </a:p>
        </p:txBody>
      </p:sp>
      <p:sp>
        <p:nvSpPr>
          <p:cNvPr id="6" name="TextBox 5"/>
          <p:cNvSpPr txBox="1"/>
          <p:nvPr/>
        </p:nvSpPr>
        <p:spPr>
          <a:xfrm>
            <a:off x="6309360" y="1938528"/>
            <a:ext cx="5029200" cy="3383280"/>
          </a:xfrm>
          <a:prstGeom prst="rect">
            <a:avLst/>
          </a:prstGeom>
          <a:noFill/>
        </p:spPr>
        <p:txBody>
          <a:bodyPr wrap="square" lIns="73152" rIns="73152" bIns="27432">
            <a:spAutoFit/>
          </a:bodyPr>
          <a:lstStyle/>
          <a:p>
            <a:pPr>
              <a:spcAft>
                <a:spcPts val="900"/>
              </a:spcAft>
              <a:defRPr sz="1300" b="0">
                <a:solidFill>
                  <a:srgbClr val="2D3034"/>
                </a:solidFill>
                <a:latin typeface="Aptos"/>
              </a:defRPr>
            </a:pPr>
            <a:r>
              <a:t>File: forest_fire_dataset_one_sheet.xlsx</a:t>
            </a:r>
          </a:p>
          <a:p>
            <a:pPr>
              <a:spcAft>
                <a:spcPts val="900"/>
              </a:spcAft>
              <a:defRPr sz="1300" b="0">
                <a:solidFill>
                  <a:srgbClr val="2D3034"/>
                </a:solidFill>
                <a:latin typeface="Aptos"/>
              </a:defRPr>
            </a:pPr>
            <a:r>
              <a:t>Rows: 744</a:t>
            </a:r>
          </a:p>
          <a:p>
            <a:pPr>
              <a:spcAft>
                <a:spcPts val="900"/>
              </a:spcAft>
              <a:defRPr sz="1300" b="0">
                <a:solidFill>
                  <a:srgbClr val="2D3034"/>
                </a:solidFill>
                <a:latin typeface="Aptos"/>
              </a:defRPr>
            </a:pPr>
            <a:r>
              <a:t>Columns: 11</a:t>
            </a:r>
          </a:p>
          <a:p>
            <a:pPr>
              <a:spcAft>
                <a:spcPts val="900"/>
              </a:spcAft>
              <a:defRPr sz="1300" b="0">
                <a:solidFill>
                  <a:srgbClr val="2D3034"/>
                </a:solidFill>
                <a:latin typeface="Aptos"/>
              </a:defRPr>
            </a:pPr>
            <a:r>
              <a:t>Regions: 62</a:t>
            </a:r>
          </a:p>
          <a:p>
            <a:pPr>
              <a:spcAft>
                <a:spcPts val="900"/>
              </a:spcAft>
              <a:defRPr sz="1300" b="0">
                <a:solidFill>
                  <a:srgbClr val="2D3034"/>
                </a:solidFill>
                <a:latin typeface="Aptos"/>
              </a:defRPr>
            </a:pPr>
            <a:r>
              <a:t>Year range: 2024–2024</a:t>
            </a:r>
          </a:p>
          <a:p>
            <a:pPr>
              <a:spcAft>
                <a:spcPts val="900"/>
              </a:spcAft>
              <a:defRPr sz="1300" b="0">
                <a:solidFill>
                  <a:srgbClr val="2D3034"/>
                </a:solidFill>
                <a:latin typeface="Aptos"/>
              </a:defRPr>
            </a:pPr>
            <a:r>
              <a:t>Main fields: Region, Continent, Year, Month, Hemisphere_Season, Fire_Frequency_Count, Estimated_Burned_Area_km2, Impact_Level.</a:t>
            </a:r>
          </a:p>
          <a:p>
            <a:pPr>
              <a:spcAft>
                <a:spcPts val="900"/>
              </a:spcAft>
              <a:defRPr sz="1300" b="0">
                <a:solidFill>
                  <a:srgbClr val="2D3034"/>
                </a:solidFill>
                <a:latin typeface="Aptos"/>
              </a:defRPr>
            </a:pPr>
            <a:r>
              <a:t>Missing numeric values: 7 fire counts and 7 burned-area values.</a:t>
            </a:r>
          </a:p>
        </p:txBody>
      </p:sp>
      <p:sp>
        <p:nvSpPr>
          <p:cNvPr id="7" name="TextBox 6"/>
          <p:cNvSpPr txBox="1"/>
          <p:nvPr/>
        </p:nvSpPr>
        <p:spPr>
          <a:xfrm>
            <a:off x="9875520" y="6510528"/>
            <a:ext cx="1828800" cy="182880"/>
          </a:xfrm>
          <a:prstGeom prst="rect">
            <a:avLst/>
          </a:prstGeom>
          <a:noFill/>
        </p:spPr>
        <p:txBody>
          <a:bodyPr wrap="none">
            <a:spAutoFit/>
          </a:bodyPr>
          <a:lstStyle/>
          <a:p>
            <a:pPr algn="r">
              <a:defRPr sz="800">
                <a:solidFill>
                  <a:srgbClr val="646C73"/>
                </a:solidFill>
              </a:defRPr>
            </a:pPr>
            <a:r>
              <a:t>EDAV • COURSE-END PROJECT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none">
            <a:spAutoFit/>
          </a:bodyPr>
          <a:lstStyle/>
          <a:p>
            <a:pPr>
              <a:defRPr sz="2500" b="1">
                <a:solidFill>
                  <a:srgbClr val="1E3752"/>
                </a:solidFill>
                <a:latin typeface="Aptos Display"/>
              </a:defRPr>
            </a:pPr>
            <a:r>
              <a:t>ANALYSIS PLAN (Q1–Q5)</a:t>
            </a:r>
          </a:p>
        </p:txBody>
      </p:sp>
      <p:sp>
        <p:nvSpPr>
          <p:cNvPr id="3" name="Rectangle 2"/>
          <p:cNvSpPr/>
          <p:nvPr/>
        </p:nvSpPr>
        <p:spPr>
          <a:xfrm>
            <a:off x="530352" y="1170432"/>
            <a:ext cx="11109960" cy="32004"/>
          </a:xfrm>
          <a:prstGeom prst="rect">
            <a:avLst/>
          </a:prstGeom>
          <a:solidFill>
            <a:srgbClr val="287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 y="1481328"/>
            <a:ext cx="1828800" cy="566928"/>
          </a:xfrm>
          <a:prstGeom prst="roundRect">
            <a:avLst/>
          </a:prstGeom>
          <a:solidFill>
            <a:srgbClr val="287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Q1 • BL-3</a:t>
            </a:r>
          </a:p>
        </p:txBody>
      </p:sp>
      <p:sp>
        <p:nvSpPr>
          <p:cNvPr id="5" name="TextBox 4"/>
          <p:cNvSpPr txBox="1"/>
          <p:nvPr/>
        </p:nvSpPr>
        <p:spPr>
          <a:xfrm>
            <a:off x="2880360" y="1527048"/>
            <a:ext cx="8229600" cy="566928"/>
          </a:xfrm>
          <a:prstGeom prst="rect">
            <a:avLst/>
          </a:prstGeom>
          <a:noFill/>
        </p:spPr>
        <p:txBody>
          <a:bodyPr wrap="square" lIns="73152" rIns="73152" bIns="27432">
            <a:spAutoFit/>
          </a:bodyPr>
          <a:lstStyle/>
          <a:p>
            <a:pPr>
              <a:spcAft>
                <a:spcPts val="900"/>
              </a:spcAft>
              <a:defRPr sz="1500" b="0">
                <a:solidFill>
                  <a:srgbClr val="2D3034"/>
                </a:solidFill>
                <a:latin typeface="Aptos"/>
              </a:defRPr>
            </a:pPr>
            <a:r>
              <a:t>Calculate mean fire incidence using Fire_Frequency_Count.</a:t>
            </a:r>
          </a:p>
        </p:txBody>
      </p:sp>
      <p:sp>
        <p:nvSpPr>
          <p:cNvPr id="6" name="Rounded Rectangle 5"/>
          <p:cNvSpPr/>
          <p:nvPr/>
        </p:nvSpPr>
        <p:spPr>
          <a:xfrm>
            <a:off x="777240" y="2414016"/>
            <a:ext cx="1828800" cy="566928"/>
          </a:xfrm>
          <a:prstGeom prst="roundRect">
            <a:avLst/>
          </a:prstGeom>
          <a:solidFill>
            <a:srgbClr val="287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Q2 • BL-3</a:t>
            </a:r>
          </a:p>
        </p:txBody>
      </p:sp>
      <p:sp>
        <p:nvSpPr>
          <p:cNvPr id="7" name="TextBox 6"/>
          <p:cNvSpPr txBox="1"/>
          <p:nvPr/>
        </p:nvSpPr>
        <p:spPr>
          <a:xfrm>
            <a:off x="2880360" y="2459736"/>
            <a:ext cx="8229600" cy="566928"/>
          </a:xfrm>
          <a:prstGeom prst="rect">
            <a:avLst/>
          </a:prstGeom>
          <a:noFill/>
        </p:spPr>
        <p:txBody>
          <a:bodyPr wrap="square" lIns="73152" rIns="73152" bIns="27432">
            <a:spAutoFit/>
          </a:bodyPr>
          <a:lstStyle/>
          <a:p>
            <a:pPr>
              <a:spcAft>
                <a:spcPts val="900"/>
              </a:spcAft>
              <a:defRPr sz="1500" b="0">
                <a:solidFill>
                  <a:srgbClr val="2D3034"/>
                </a:solidFill>
                <a:latin typeface="Aptos"/>
              </a:defRPr>
            </a:pPr>
            <a:r>
              <a:t>Filter records for one region, such as California, USA.</a:t>
            </a:r>
          </a:p>
        </p:txBody>
      </p:sp>
      <p:sp>
        <p:nvSpPr>
          <p:cNvPr id="8" name="Rounded Rectangle 7"/>
          <p:cNvSpPr/>
          <p:nvPr/>
        </p:nvSpPr>
        <p:spPr>
          <a:xfrm>
            <a:off x="777240" y="3346704"/>
            <a:ext cx="1828800" cy="566928"/>
          </a:xfrm>
          <a:prstGeom prst="roundRect">
            <a:avLst/>
          </a:prstGeom>
          <a:solidFill>
            <a:srgbClr val="287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Q3 • BL-4</a:t>
            </a:r>
          </a:p>
        </p:txBody>
      </p:sp>
      <p:sp>
        <p:nvSpPr>
          <p:cNvPr id="9" name="TextBox 8"/>
          <p:cNvSpPr txBox="1"/>
          <p:nvPr/>
        </p:nvSpPr>
        <p:spPr>
          <a:xfrm>
            <a:off x="2880360" y="3392424"/>
            <a:ext cx="8229600" cy="566928"/>
          </a:xfrm>
          <a:prstGeom prst="rect">
            <a:avLst/>
          </a:prstGeom>
          <a:noFill/>
        </p:spPr>
        <p:txBody>
          <a:bodyPr wrap="square" lIns="73152" rIns="73152" bIns="27432">
            <a:spAutoFit/>
          </a:bodyPr>
          <a:lstStyle/>
          <a:p>
            <a:pPr>
              <a:spcAft>
                <a:spcPts val="900"/>
              </a:spcAft>
              <a:defRPr sz="1500" b="0">
                <a:solidFill>
                  <a:srgbClr val="2D3034"/>
                </a:solidFill>
                <a:latin typeface="Aptos"/>
              </a:defRPr>
            </a:pPr>
            <a:r>
              <a:t>Check missing values and fill numeric gaps using median values.</a:t>
            </a:r>
          </a:p>
        </p:txBody>
      </p:sp>
      <p:sp>
        <p:nvSpPr>
          <p:cNvPr id="10" name="Rounded Rectangle 9"/>
          <p:cNvSpPr/>
          <p:nvPr/>
        </p:nvSpPr>
        <p:spPr>
          <a:xfrm>
            <a:off x="777240" y="4279392"/>
            <a:ext cx="1828800" cy="566928"/>
          </a:xfrm>
          <a:prstGeom prst="roundRect">
            <a:avLst/>
          </a:prstGeom>
          <a:solidFill>
            <a:srgbClr val="287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Q4 • BL-4</a:t>
            </a:r>
          </a:p>
        </p:txBody>
      </p:sp>
      <p:sp>
        <p:nvSpPr>
          <p:cNvPr id="11" name="TextBox 10"/>
          <p:cNvSpPr txBox="1"/>
          <p:nvPr/>
        </p:nvSpPr>
        <p:spPr>
          <a:xfrm>
            <a:off x="2880360" y="4325112"/>
            <a:ext cx="8229600" cy="566928"/>
          </a:xfrm>
          <a:prstGeom prst="rect">
            <a:avLst/>
          </a:prstGeom>
          <a:noFill/>
        </p:spPr>
        <p:txBody>
          <a:bodyPr wrap="square" lIns="73152" rIns="73152" bIns="27432">
            <a:spAutoFit/>
          </a:bodyPr>
          <a:lstStyle/>
          <a:p>
            <a:pPr>
              <a:spcAft>
                <a:spcPts val="900"/>
              </a:spcAft>
              <a:defRPr sz="1500" b="0">
                <a:solidFill>
                  <a:srgbClr val="2D3034"/>
                </a:solidFill>
                <a:latin typeface="Aptos"/>
              </a:defRPr>
            </a:pPr>
            <a:r>
              <a:t>Group fire frequency by Hemisphere_Season and Region.</a:t>
            </a:r>
          </a:p>
        </p:txBody>
      </p:sp>
      <p:sp>
        <p:nvSpPr>
          <p:cNvPr id="12" name="Rounded Rectangle 11"/>
          <p:cNvSpPr/>
          <p:nvPr/>
        </p:nvSpPr>
        <p:spPr>
          <a:xfrm>
            <a:off x="777240" y="5212080"/>
            <a:ext cx="1828800" cy="566928"/>
          </a:xfrm>
          <a:prstGeom prst="roundRect">
            <a:avLst/>
          </a:prstGeom>
          <a:solidFill>
            <a:srgbClr val="287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Q5 • BL-5</a:t>
            </a:r>
          </a:p>
        </p:txBody>
      </p:sp>
      <p:sp>
        <p:nvSpPr>
          <p:cNvPr id="13" name="TextBox 12"/>
          <p:cNvSpPr txBox="1"/>
          <p:nvPr/>
        </p:nvSpPr>
        <p:spPr>
          <a:xfrm>
            <a:off x="2880360" y="5257800"/>
            <a:ext cx="8229600" cy="566928"/>
          </a:xfrm>
          <a:prstGeom prst="rect">
            <a:avLst/>
          </a:prstGeom>
          <a:noFill/>
        </p:spPr>
        <p:txBody>
          <a:bodyPr wrap="square" lIns="73152" rIns="73152" bIns="27432">
            <a:spAutoFit/>
          </a:bodyPr>
          <a:lstStyle/>
          <a:p>
            <a:pPr>
              <a:spcAft>
                <a:spcPts val="900"/>
              </a:spcAft>
              <a:defRPr sz="1500" b="0">
                <a:solidFill>
                  <a:srgbClr val="2D3034"/>
                </a:solidFill>
                <a:latin typeface="Aptos"/>
              </a:defRPr>
            </a:pPr>
            <a:r>
              <a:t>Use line, bar and subplot visualizations to compare patterns.</a:t>
            </a:r>
          </a:p>
        </p:txBody>
      </p:sp>
      <p:sp>
        <p:nvSpPr>
          <p:cNvPr id="14" name="TextBox 13"/>
          <p:cNvSpPr txBox="1"/>
          <p:nvPr/>
        </p:nvSpPr>
        <p:spPr>
          <a:xfrm>
            <a:off x="9875520" y="6510528"/>
            <a:ext cx="1828800" cy="182880"/>
          </a:xfrm>
          <a:prstGeom prst="rect">
            <a:avLst/>
          </a:prstGeom>
          <a:noFill/>
        </p:spPr>
        <p:txBody>
          <a:bodyPr wrap="none">
            <a:spAutoFit/>
          </a:bodyPr>
          <a:lstStyle/>
          <a:p>
            <a:pPr algn="r">
              <a:defRPr sz="800">
                <a:solidFill>
                  <a:srgbClr val="646C73"/>
                </a:solidFill>
              </a:defRPr>
            </a:pPr>
            <a:r>
              <a:t>EDAV • COURSE-END PROJECT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502920"/>
          </a:xfrm>
          <a:prstGeom prst="rect">
            <a:avLst/>
          </a:prstGeom>
          <a:noFill/>
        </p:spPr>
        <p:txBody>
          <a:bodyPr wrap="none">
            <a:spAutoFit/>
          </a:bodyPr>
          <a:lstStyle/>
          <a:p>
            <a:pPr>
              <a:defRPr sz="2500" b="1">
                <a:solidFill>
                  <a:srgbClr val="1E3752"/>
                </a:solidFill>
                <a:latin typeface="Aptos Display"/>
              </a:defRPr>
            </a:pPr>
            <a:r>
              <a:t>EXPECTED OUTPUTS &amp; CONCLUSION</a:t>
            </a:r>
          </a:p>
        </p:txBody>
      </p:sp>
      <p:sp>
        <p:nvSpPr>
          <p:cNvPr id="3" name="Rectangle 2"/>
          <p:cNvSpPr/>
          <p:nvPr/>
        </p:nvSpPr>
        <p:spPr>
          <a:xfrm>
            <a:off x="530352" y="1170432"/>
            <a:ext cx="11109960" cy="32004"/>
          </a:xfrm>
          <a:prstGeom prst="rect">
            <a:avLst/>
          </a:prstGeom>
          <a:solidFill>
            <a:srgbClr val="287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08760"/>
            <a:ext cx="5120640" cy="320040"/>
          </a:xfrm>
          <a:prstGeom prst="rect">
            <a:avLst/>
          </a:prstGeom>
          <a:noFill/>
        </p:spPr>
        <p:txBody>
          <a:bodyPr wrap="square" lIns="73152" rIns="73152" bIns="27432">
            <a:spAutoFit/>
          </a:bodyPr>
          <a:lstStyle/>
          <a:p>
            <a:pPr>
              <a:spcAft>
                <a:spcPts val="900"/>
              </a:spcAft>
              <a:defRPr sz="1700" b="1">
                <a:solidFill>
                  <a:srgbClr val="287882"/>
                </a:solidFill>
                <a:latin typeface="Aptos"/>
              </a:defRPr>
            </a:pPr>
            <a:r>
              <a:t>OUTPUTS FROM THE PROVIDED FILE</a:t>
            </a:r>
          </a:p>
        </p:txBody>
      </p:sp>
      <p:sp>
        <p:nvSpPr>
          <p:cNvPr id="5" name="TextBox 4"/>
          <p:cNvSpPr txBox="1"/>
          <p:nvPr/>
        </p:nvSpPr>
        <p:spPr>
          <a:xfrm>
            <a:off x="822960" y="1920240"/>
            <a:ext cx="5074920" cy="3017520"/>
          </a:xfrm>
          <a:prstGeom prst="rect">
            <a:avLst/>
          </a:prstGeom>
          <a:noFill/>
        </p:spPr>
        <p:txBody>
          <a:bodyPr wrap="square" lIns="73152" rIns="73152" bIns="27432">
            <a:spAutoFit/>
          </a:bodyPr>
          <a:lstStyle/>
          <a:p>
            <a:pPr>
              <a:spcAft>
                <a:spcPts val="900"/>
              </a:spcAft>
              <a:defRPr sz="1500" b="0">
                <a:solidFill>
                  <a:srgbClr val="2D3034"/>
                </a:solidFill>
                <a:latin typeface="Aptos"/>
              </a:defRPr>
            </a:pPr>
            <a:r>
              <a:t>Average recorded fire count before filling missing values: 26.63</a:t>
            </a:r>
          </a:p>
          <a:p>
            <a:pPr>
              <a:spcAft>
                <a:spcPts val="900"/>
              </a:spcAft>
              <a:defRPr sz="1500" b="0">
                <a:solidFill>
                  <a:srgbClr val="2D3034"/>
                </a:solidFill>
                <a:latin typeface="Aptos"/>
              </a:defRPr>
            </a:pPr>
            <a:r>
              <a:t>Average estimated burned area: 265.74 km²</a:t>
            </a:r>
          </a:p>
          <a:p>
            <a:pPr>
              <a:spcAft>
                <a:spcPts val="900"/>
              </a:spcAft>
              <a:defRPr sz="1500" b="0">
                <a:solidFill>
                  <a:srgbClr val="2D3034"/>
                </a:solidFill>
                <a:latin typeface="Aptos"/>
              </a:defRPr>
            </a:pPr>
            <a:r>
              <a:t>Missing fire-frequency values: 7</a:t>
            </a:r>
          </a:p>
          <a:p>
            <a:pPr>
              <a:spcAft>
                <a:spcPts val="900"/>
              </a:spcAft>
              <a:defRPr sz="1500" b="0">
                <a:solidFill>
                  <a:srgbClr val="2D3034"/>
                </a:solidFill>
                <a:latin typeface="Aptos"/>
              </a:defRPr>
            </a:pPr>
            <a:r>
              <a:t>Missing burned-area values: 7</a:t>
            </a:r>
          </a:p>
          <a:p>
            <a:pPr>
              <a:spcAft>
                <a:spcPts val="900"/>
              </a:spcAft>
              <a:defRPr sz="1500" b="0">
                <a:solidFill>
                  <a:srgbClr val="2D3034"/>
                </a:solidFill>
                <a:latin typeface="Aptos"/>
              </a:defRPr>
            </a:pPr>
            <a:r>
              <a:t>Highest mean fire count by season: Summer (44.23)</a:t>
            </a:r>
          </a:p>
        </p:txBody>
      </p:sp>
      <p:sp>
        <p:nvSpPr>
          <p:cNvPr id="6" name="TextBox 5"/>
          <p:cNvSpPr txBox="1"/>
          <p:nvPr/>
        </p:nvSpPr>
        <p:spPr>
          <a:xfrm>
            <a:off x="6217920" y="1508760"/>
            <a:ext cx="5029200" cy="320040"/>
          </a:xfrm>
          <a:prstGeom prst="rect">
            <a:avLst/>
          </a:prstGeom>
          <a:noFill/>
        </p:spPr>
        <p:txBody>
          <a:bodyPr wrap="square" lIns="73152" rIns="73152" bIns="27432">
            <a:spAutoFit/>
          </a:bodyPr>
          <a:lstStyle/>
          <a:p>
            <a:pPr>
              <a:spcAft>
                <a:spcPts val="900"/>
              </a:spcAft>
              <a:defRPr sz="1700" b="1">
                <a:solidFill>
                  <a:srgbClr val="287882"/>
                </a:solidFill>
                <a:latin typeface="Aptos"/>
              </a:defRPr>
            </a:pPr>
            <a:r>
              <a:t>CONCLUSION</a:t>
            </a:r>
          </a:p>
        </p:txBody>
      </p:sp>
      <p:sp>
        <p:nvSpPr>
          <p:cNvPr id="7" name="TextBox 6"/>
          <p:cNvSpPr txBox="1"/>
          <p:nvPr/>
        </p:nvSpPr>
        <p:spPr>
          <a:xfrm>
            <a:off x="6263640" y="1920240"/>
            <a:ext cx="4983480" cy="3108960"/>
          </a:xfrm>
          <a:prstGeom prst="rect">
            <a:avLst/>
          </a:prstGeom>
          <a:noFill/>
        </p:spPr>
        <p:txBody>
          <a:bodyPr wrap="square" lIns="73152" rIns="73152" bIns="27432">
            <a:spAutoFit/>
          </a:bodyPr>
          <a:lstStyle/>
          <a:p>
            <a:pPr>
              <a:spcAft>
                <a:spcPts val="900"/>
              </a:spcAft>
              <a:defRPr sz="1600" b="0">
                <a:solidFill>
                  <a:srgbClr val="2D3034"/>
                </a:solidFill>
                <a:latin typeface="Aptos"/>
              </a:defRPr>
            </a:pPr>
            <a:r>
              <a:t>Pandas makes it easier to clean and summarize monthly records. Grouping helps compare regions and seasons, while subplots show several views together. The results should be interpreted as a demonstration because the dataset is simulated, not observed. The same workflow can later be applied to verified official fire data.</a:t>
            </a:r>
          </a:p>
        </p:txBody>
      </p:sp>
      <p:sp>
        <p:nvSpPr>
          <p:cNvPr id="8" name="TextBox 7"/>
          <p:cNvSpPr txBox="1"/>
          <p:nvPr/>
        </p:nvSpPr>
        <p:spPr>
          <a:xfrm>
            <a:off x="822960" y="5577840"/>
            <a:ext cx="10332720" cy="365760"/>
          </a:xfrm>
          <a:prstGeom prst="rect">
            <a:avLst/>
          </a:prstGeom>
          <a:noFill/>
        </p:spPr>
        <p:txBody>
          <a:bodyPr wrap="square" lIns="73152" rIns="73152" bIns="27432">
            <a:spAutoFit/>
          </a:bodyPr>
          <a:lstStyle/>
          <a:p>
            <a:pPr>
              <a:spcAft>
                <a:spcPts val="900"/>
              </a:spcAft>
              <a:defRPr sz="2000" b="1">
                <a:solidFill>
                  <a:srgbClr val="1E3752"/>
                </a:solidFill>
                <a:latin typeface="Aptos"/>
              </a:defRPr>
            </a:pPr>
            <a:r>
              <a:t>THANK YOU</a:t>
            </a:r>
          </a:p>
        </p:txBody>
      </p:sp>
      <p:sp>
        <p:nvSpPr>
          <p:cNvPr id="9" name="TextBox 8"/>
          <p:cNvSpPr txBox="1"/>
          <p:nvPr/>
        </p:nvSpPr>
        <p:spPr>
          <a:xfrm>
            <a:off x="9875520" y="6510528"/>
            <a:ext cx="1828800" cy="182880"/>
          </a:xfrm>
          <a:prstGeom prst="rect">
            <a:avLst/>
          </a:prstGeom>
          <a:noFill/>
        </p:spPr>
        <p:txBody>
          <a:bodyPr wrap="none">
            <a:spAutoFit/>
          </a:bodyPr>
          <a:lstStyle/>
          <a:p>
            <a:pPr algn="r">
              <a:defRPr sz="800">
                <a:solidFill>
                  <a:srgbClr val="646C73"/>
                </a:solidFill>
              </a:defRPr>
            </a:pPr>
            <a:r>
              <a:t>EDAV • COURSE-END PROJECT  |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