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A26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4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48640" y="1745452"/>
            <a:ext cx="8046720" cy="2926080"/>
          </a:xfrm>
          <a:prstGeom prst="roundRect">
            <a:avLst>
              <a:gd name="adj" fmla="val 2500"/>
            </a:avLst>
          </a:prstGeom>
          <a:solidFill>
            <a:srgbClr val="F6F0DE"/>
          </a:solidFill>
          <a:ln w="12700">
            <a:solidFill>
              <a:srgbClr val="B79F6B"/>
            </a:solidFill>
            <a:prstDash val="solid"/>
          </a:ln>
        </p:spPr>
        <p:txBody>
          <a:bodyPr/>
          <a:lstStyle/>
          <a:p>
            <a:endParaRPr lang="en-US"/>
          </a:p>
        </p:txBody>
      </p:sp>
      <p:sp>
        <p:nvSpPr>
          <p:cNvPr id="4" name="Text 1"/>
          <p:cNvSpPr txBox="1"/>
          <p:nvPr/>
        </p:nvSpPr>
        <p:spPr>
          <a:xfrm>
            <a:off x="731520" y="1828800"/>
            <a:ext cx="7680960" cy="731520"/>
          </a:xfrm>
          <a:prstGeom prst="rect">
            <a:avLst/>
          </a:prstGeom>
          <a:noFill/>
          <a:ln/>
        </p:spPr>
        <p:txBody>
          <a:bodyPr wrap="square" lIns="0" tIns="0" rIns="0" bIns="0" rtlCol="0" anchor="t"/>
          <a:lstStyle/>
          <a:p>
            <a:pPr marL="0" indent="0" algn="ctr">
              <a:buNone/>
            </a:pPr>
            <a:r>
              <a:rPr lang="en-US" sz="1300" b="1" dirty="0">
                <a:solidFill>
                  <a:srgbClr val="2B1D12"/>
                </a:solidFill>
                <a:latin typeface="Arial" pitchFamily="34" charset="0"/>
                <a:ea typeface="Arial" pitchFamily="34" charset="-122"/>
                <a:cs typeface="Arial" pitchFamily="34" charset="-120"/>
              </a:rPr>
              <a:t>DEPARTMENT OF INFORMATION TECHNOLOGY (IT)</a:t>
            </a:r>
            <a:endParaRPr lang="en-US" sz="1300" dirty="0"/>
          </a:p>
          <a:p>
            <a:pPr marL="0" indent="0" algn="ctr">
              <a:buNone/>
            </a:pPr>
            <a:r>
              <a:rPr lang="en-US" sz="1300" b="1" dirty="0">
                <a:solidFill>
                  <a:srgbClr val="2B1D12"/>
                </a:solidFill>
                <a:latin typeface="Arial" pitchFamily="34" charset="0"/>
                <a:ea typeface="Arial" pitchFamily="34" charset="-122"/>
                <a:cs typeface="Arial" pitchFamily="34" charset="-120"/>
              </a:rPr>
              <a:t>EXPLORATORY DATA ANALYSIS AND VISUALIZATION (EDAV) – 22AC31N</a:t>
            </a:r>
            <a:endParaRPr lang="en-US" sz="1300" dirty="0"/>
          </a:p>
          <a:p>
            <a:pPr marL="0" indent="0" algn="ctr">
              <a:buNone/>
            </a:pPr>
            <a:r>
              <a:rPr lang="en-US" sz="1300" b="1" dirty="0">
                <a:solidFill>
                  <a:srgbClr val="2B1D12"/>
                </a:solidFill>
                <a:latin typeface="Arial" pitchFamily="34" charset="0"/>
                <a:ea typeface="Arial" pitchFamily="34" charset="-122"/>
                <a:cs typeface="Arial" pitchFamily="34" charset="-120"/>
              </a:rPr>
              <a:t>B.E, IT-01, III-SEM, A.Y: 2026-27</a:t>
            </a:r>
            <a:endParaRPr lang="en-US" sz="1300" dirty="0"/>
          </a:p>
        </p:txBody>
      </p:sp>
      <p:sp>
        <p:nvSpPr>
          <p:cNvPr id="5" name="Text 2"/>
          <p:cNvSpPr txBox="1"/>
          <p:nvPr/>
        </p:nvSpPr>
        <p:spPr>
          <a:xfrm>
            <a:off x="731520" y="2606040"/>
            <a:ext cx="7680960" cy="274320"/>
          </a:xfrm>
          <a:prstGeom prst="rect">
            <a:avLst/>
          </a:prstGeom>
          <a:noFill/>
          <a:ln/>
        </p:spPr>
        <p:txBody>
          <a:bodyPr wrap="square" lIns="0" tIns="0" rIns="0" bIns="0" rtlCol="0" anchor="t"/>
          <a:lstStyle/>
          <a:p>
            <a:pPr marL="0" indent="0" algn="ctr">
              <a:buNone/>
            </a:pPr>
            <a:r>
              <a:rPr lang="en-US" sz="1500" b="1" dirty="0">
                <a:solidFill>
                  <a:srgbClr val="9A6B12"/>
                </a:solidFill>
                <a:latin typeface="Arial" pitchFamily="34" charset="0"/>
                <a:ea typeface="Arial" pitchFamily="34" charset="-122"/>
                <a:cs typeface="Arial" pitchFamily="34" charset="-120"/>
              </a:rPr>
              <a:t>COURSE-END PROJECT</a:t>
            </a:r>
            <a:endParaRPr lang="en-US" sz="1500" dirty="0"/>
          </a:p>
        </p:txBody>
      </p:sp>
      <p:sp>
        <p:nvSpPr>
          <p:cNvPr id="6" name="Text 3"/>
          <p:cNvSpPr txBox="1"/>
          <p:nvPr/>
        </p:nvSpPr>
        <p:spPr>
          <a:xfrm>
            <a:off x="822960" y="2926080"/>
            <a:ext cx="7498080" cy="822960"/>
          </a:xfrm>
          <a:prstGeom prst="rect">
            <a:avLst/>
          </a:prstGeom>
          <a:noFill/>
          <a:ln/>
        </p:spPr>
        <p:txBody>
          <a:bodyPr wrap="square" lIns="0" tIns="0" rIns="0" bIns="0" rtlCol="0" anchor="t"/>
          <a:lstStyle/>
          <a:p>
            <a:pPr marL="0" indent="0" algn="ctr">
              <a:buNone/>
            </a:pPr>
            <a:r>
              <a:rPr lang="en-US" sz="2400" b="1" dirty="0">
                <a:solidFill>
                  <a:srgbClr val="4A2F1A"/>
                </a:solidFill>
                <a:latin typeface="Georgia" pitchFamily="34" charset="0"/>
                <a:ea typeface="Georgia" pitchFamily="34" charset="-122"/>
                <a:cs typeface="Georgia" pitchFamily="34" charset="-120"/>
              </a:rPr>
              <a:t>“Analyze Forest Fire Incidence by Region and Season”</a:t>
            </a:r>
            <a:endParaRPr lang="en-US" sz="2400" dirty="0"/>
          </a:p>
        </p:txBody>
      </p:sp>
      <p:sp>
        <p:nvSpPr>
          <p:cNvPr id="7" name="Text 4"/>
          <p:cNvSpPr txBox="1"/>
          <p:nvPr/>
        </p:nvSpPr>
        <p:spPr>
          <a:xfrm>
            <a:off x="5555991" y="3840480"/>
            <a:ext cx="3931920" cy="731520"/>
          </a:xfrm>
          <a:prstGeom prst="rect">
            <a:avLst/>
          </a:prstGeom>
          <a:noFill/>
          <a:ln/>
        </p:spPr>
        <p:txBody>
          <a:bodyPr wrap="square" lIns="0" tIns="0" rIns="0" bIns="0" rtlCol="0" anchor="t"/>
          <a:lstStyle/>
          <a:p>
            <a:pPr marL="0" indent="0">
              <a:buNone/>
            </a:pPr>
            <a:r>
              <a:rPr lang="en-US" sz="1300" b="1" dirty="0">
                <a:solidFill>
                  <a:srgbClr val="2B1D12"/>
                </a:solidFill>
                <a:latin typeface="Arial" pitchFamily="34" charset="0"/>
                <a:ea typeface="Arial" pitchFamily="34" charset="-122"/>
                <a:cs typeface="Arial" pitchFamily="34" charset="-120"/>
              </a:rPr>
              <a:t>By:</a:t>
            </a:r>
            <a:endParaRPr lang="en-US" sz="1300" dirty="0"/>
          </a:p>
          <a:p>
            <a:pPr marL="0" indent="0">
              <a:buNone/>
            </a:pPr>
            <a:r>
              <a:rPr lang="en-US" sz="1300" dirty="0">
                <a:solidFill>
                  <a:srgbClr val="2B1D12"/>
                </a:solidFill>
                <a:latin typeface="Arial" pitchFamily="34" charset="0"/>
                <a:ea typeface="Arial" pitchFamily="34" charset="-122"/>
                <a:cs typeface="Arial" pitchFamily="34" charset="-120"/>
              </a:rPr>
              <a:t>C Sandhya Yadav - 160125737010</a:t>
            </a:r>
            <a:endParaRPr lang="en-US" sz="1300" dirty="0"/>
          </a:p>
          <a:p>
            <a:pPr marL="0" indent="0">
              <a:buNone/>
            </a:pPr>
            <a:r>
              <a:rPr lang="en-US" sz="1300" dirty="0">
                <a:solidFill>
                  <a:srgbClr val="2B1D12"/>
                </a:solidFill>
                <a:latin typeface="Arial" pitchFamily="34" charset="0"/>
                <a:cs typeface="Arial" pitchFamily="34" charset="-120"/>
              </a:rPr>
              <a:t>S Harshini - 160125737055</a:t>
            </a:r>
            <a:endParaRPr lang="en-US" sz="1300" dirty="0"/>
          </a:p>
        </p:txBody>
      </p:sp>
      <p:sp>
        <p:nvSpPr>
          <p:cNvPr id="8" name="Text 5"/>
          <p:cNvSpPr txBox="1"/>
          <p:nvPr/>
        </p:nvSpPr>
        <p:spPr>
          <a:xfrm>
            <a:off x="-901453" y="3840480"/>
            <a:ext cx="3657600" cy="731520"/>
          </a:xfrm>
          <a:prstGeom prst="rect">
            <a:avLst/>
          </a:prstGeom>
          <a:noFill/>
          <a:ln/>
        </p:spPr>
        <p:txBody>
          <a:bodyPr wrap="square" lIns="0" tIns="0" rIns="0" bIns="0" rtlCol="0" anchor="t"/>
          <a:lstStyle/>
          <a:p>
            <a:pPr marL="0" indent="0" algn="r">
              <a:buNone/>
            </a:pPr>
            <a:r>
              <a:rPr lang="en-US" sz="1300" b="1" dirty="0">
                <a:solidFill>
                  <a:srgbClr val="2B1D12"/>
                </a:solidFill>
                <a:latin typeface="Arial" pitchFamily="34" charset="0"/>
                <a:ea typeface="Arial" pitchFamily="34" charset="-122"/>
                <a:cs typeface="Arial" pitchFamily="34" charset="-120"/>
              </a:rPr>
              <a:t>Course Instructor:</a:t>
            </a:r>
            <a:endParaRPr lang="en-US" sz="1300" dirty="0"/>
          </a:p>
          <a:p>
            <a:pPr marL="0" indent="0" algn="r">
              <a:buNone/>
            </a:pPr>
            <a:r>
              <a:rPr lang="en-US" sz="1300" dirty="0">
                <a:solidFill>
                  <a:srgbClr val="2B1D12"/>
                </a:solidFill>
                <a:latin typeface="Arial" pitchFamily="34" charset="0"/>
                <a:ea typeface="Arial" pitchFamily="34" charset="-122"/>
                <a:cs typeface="Arial" pitchFamily="34" charset="-120"/>
              </a:rPr>
              <a:t>Dr Ramakrishna Kolikipogu</a:t>
            </a:r>
            <a:endParaRPr lang="en-US" sz="1300" dirty="0"/>
          </a:p>
          <a:p>
            <a:pPr marL="0" indent="0" algn="r">
              <a:buNone/>
            </a:pPr>
            <a:r>
              <a:rPr lang="en-US" sz="1300" dirty="0">
                <a:solidFill>
                  <a:srgbClr val="2B1D12"/>
                </a:solidFill>
                <a:latin typeface="Arial" pitchFamily="34" charset="0"/>
                <a:ea typeface="Arial" pitchFamily="34" charset="-122"/>
                <a:cs typeface="Arial" pitchFamily="34" charset="-120"/>
              </a:rPr>
              <a:t>Professor, Dept. of IT, CBIT</a:t>
            </a:r>
            <a:endParaRPr lang="en-US" sz="1300" dirty="0"/>
          </a:p>
        </p:txBody>
      </p:sp>
      <p:pic>
        <p:nvPicPr>
          <p:cNvPr id="10" name="Picture 9">
            <a:extLst>
              <a:ext uri="{FF2B5EF4-FFF2-40B4-BE49-F238E27FC236}">
                <a16:creationId xmlns:a16="http://schemas.microsoft.com/office/drawing/2014/main" id="{B6311CFF-FD7E-3FC8-EC92-DA747CD94AD9}"/>
              </a:ext>
            </a:extLst>
          </p:cNvPr>
          <p:cNvPicPr>
            <a:picLocks noChangeAspect="1"/>
          </p:cNvPicPr>
          <p:nvPr/>
        </p:nvPicPr>
        <p:blipFill>
          <a:blip r:embed="rId4"/>
          <a:srcRect/>
          <a:stretch/>
        </p:blipFill>
        <p:spPr bwMode="auto">
          <a:xfrm>
            <a:off x="548640" y="411480"/>
            <a:ext cx="8046720" cy="1280160"/>
          </a:xfrm>
          <a:prstGeom prst="rect">
            <a:avLst/>
          </a:prstGeom>
          <a:noFill/>
          <a:ln w="9525">
            <a:solidFill>
              <a:schemeClr val="accent4">
                <a:lumMod val="75000"/>
              </a:schemeClr>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29184"/>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ABSTRACT</a:t>
            </a:r>
            <a:endParaRPr lang="en-US" sz="3000" dirty="0"/>
          </a:p>
        </p:txBody>
      </p:sp>
      <p:sp>
        <p:nvSpPr>
          <p:cNvPr id="3" name="Shape 1"/>
          <p:cNvSpPr/>
          <p:nvPr/>
        </p:nvSpPr>
        <p:spPr>
          <a:xfrm>
            <a:off x="616613" y="981565"/>
            <a:ext cx="8046720" cy="3657600"/>
          </a:xfrm>
          <a:prstGeom prst="roundRect">
            <a:avLst>
              <a:gd name="adj" fmla="val 2000"/>
            </a:avLst>
          </a:prstGeom>
          <a:solidFill>
            <a:srgbClr val="F6F0DE"/>
          </a:solidFill>
          <a:ln w="12700">
            <a:solidFill>
              <a:srgbClr val="B79F6B"/>
            </a:solidFill>
            <a:prstDash val="solid"/>
          </a:ln>
        </p:spPr>
        <p:txBody>
          <a:bodyPr/>
          <a:lstStyle/>
          <a:p>
            <a:endParaRPr lang="en-US" dirty="0"/>
          </a:p>
        </p:txBody>
      </p:sp>
      <p:sp>
        <p:nvSpPr>
          <p:cNvPr id="4" name="Text 2"/>
          <p:cNvSpPr txBox="1"/>
          <p:nvPr/>
        </p:nvSpPr>
        <p:spPr>
          <a:xfrm>
            <a:off x="756605" y="1136203"/>
            <a:ext cx="7766736" cy="2977061"/>
          </a:xfrm>
          <a:prstGeom prst="rect">
            <a:avLst/>
          </a:prstGeom>
          <a:noFill/>
          <a:ln/>
        </p:spPr>
        <p:txBody>
          <a:bodyPr wrap="square" lIns="0" tIns="0" rIns="0" bIns="0" rtlCol="0" anchor="t"/>
          <a:lstStyle/>
          <a:p>
            <a:r>
              <a:rPr lang="en-US" sz="1600" dirty="0">
                <a:solidFill>
                  <a:srgbClr val="2B1D12"/>
                </a:solidFill>
                <a:latin typeface="Arial" pitchFamily="34" charset="0"/>
                <a:ea typeface="Arial" pitchFamily="34" charset="-122"/>
                <a:cs typeface="Arial" pitchFamily="34" charset="-120"/>
              </a:rPr>
              <a:t>This project studies how forest fire frequency changes across regions, seasons and months. A dataset of monthly fire records for 62 forest regions on six continents (744 records, year 2024) is analysed with Python. Pandas and NumPy are used to calculate the average fire incidence, filter data by region, fill the 7 missing records with region-wise medians, and group fires by season and region. Matplotlib and Seaborn subplots then show monthly trends, seasonal patterns and continent comparisons. Summer and the tropical dry season turn out to be the busiest fire periods, and the pattern is much clearer by continent than in the combined total. The data is simulated for learning, so the results show the method rather than real fire statistics.</a:t>
            </a:r>
            <a:endParaRPr lang="en-US" sz="1600" dirty="0"/>
          </a:p>
        </p:txBody>
      </p:sp>
      <p:sp>
        <p:nvSpPr>
          <p:cNvPr id="5" name="Text 3"/>
          <p:cNvSpPr txBox="1"/>
          <p:nvPr/>
        </p:nvSpPr>
        <p:spPr>
          <a:xfrm>
            <a:off x="760651" y="4253338"/>
            <a:ext cx="7498080" cy="457200"/>
          </a:xfrm>
          <a:prstGeom prst="rect">
            <a:avLst/>
          </a:prstGeom>
          <a:noFill/>
          <a:ln/>
        </p:spPr>
        <p:txBody>
          <a:bodyPr wrap="square" lIns="0" tIns="0" rIns="0" bIns="0" rtlCol="0" anchor="t"/>
          <a:lstStyle/>
          <a:p>
            <a:pPr marL="0" indent="0">
              <a:buNone/>
            </a:pPr>
            <a:r>
              <a:rPr lang="en-US" sz="1400" b="1" dirty="0">
                <a:solidFill>
                  <a:srgbClr val="9A6B12"/>
                </a:solidFill>
                <a:latin typeface="Arial" pitchFamily="34" charset="0"/>
                <a:ea typeface="Arial" pitchFamily="34" charset="-122"/>
                <a:cs typeface="Arial" pitchFamily="34" charset="-120"/>
              </a:rPr>
              <a:t>KEYWORDS: </a:t>
            </a:r>
            <a:r>
              <a:rPr lang="en-US" sz="1400" dirty="0">
                <a:solidFill>
                  <a:srgbClr val="2B1D12"/>
                </a:solidFill>
                <a:latin typeface="Arial" pitchFamily="34" charset="0"/>
                <a:ea typeface="Arial" pitchFamily="34" charset="-122"/>
                <a:cs typeface="Arial" pitchFamily="34" charset="-120"/>
              </a:rPr>
              <a:t>Forest Fire  |  Season  |  Region  |  Fire Frequency  |  Visualization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OBJECTIVES &amp; OUTCOMES</a:t>
            </a:r>
            <a:endParaRPr lang="en-US" sz="3000" dirty="0"/>
          </a:p>
        </p:txBody>
      </p:sp>
      <p:sp>
        <p:nvSpPr>
          <p:cNvPr id="3" name="Shape 1"/>
          <p:cNvSpPr/>
          <p:nvPr/>
        </p:nvSpPr>
        <p:spPr>
          <a:xfrm>
            <a:off x="548640" y="1005840"/>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sp>
        <p:nvSpPr>
          <p:cNvPr id="4" name="Text 2"/>
          <p:cNvSpPr txBox="1"/>
          <p:nvPr/>
        </p:nvSpPr>
        <p:spPr>
          <a:xfrm>
            <a:off x="822960" y="1143000"/>
            <a:ext cx="36576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OBJECTIVES</a:t>
            </a:r>
            <a:endParaRPr lang="en-US" sz="1800" dirty="0"/>
          </a:p>
        </p:txBody>
      </p:sp>
      <p:sp>
        <p:nvSpPr>
          <p:cNvPr id="5" name="Text 3"/>
          <p:cNvSpPr txBox="1"/>
          <p:nvPr/>
        </p:nvSpPr>
        <p:spPr>
          <a:xfrm>
            <a:off x="822960" y="155448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Calculate the average fire incidence across 62 regions and 6 continents.</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Filter and group fire records by region and season after handling missing data.</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Visualize monthly fire frequency trends using Python subplots.</a:t>
            </a:r>
            <a:endParaRPr lang="en-US" sz="1700" dirty="0"/>
          </a:p>
        </p:txBody>
      </p:sp>
      <p:sp>
        <p:nvSpPr>
          <p:cNvPr id="6" name="Text 4"/>
          <p:cNvSpPr txBox="1"/>
          <p:nvPr/>
        </p:nvSpPr>
        <p:spPr>
          <a:xfrm>
            <a:off x="4754880" y="1143000"/>
            <a:ext cx="36576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OUTCOMES</a:t>
            </a:r>
            <a:endParaRPr lang="en-US" sz="1800" dirty="0"/>
          </a:p>
        </p:txBody>
      </p:sp>
      <p:sp>
        <p:nvSpPr>
          <p:cNvPr id="7" name="Text 5"/>
          <p:cNvSpPr txBox="1"/>
          <p:nvPr/>
        </p:nvSpPr>
        <p:spPr>
          <a:xfrm>
            <a:off x="4754880" y="155448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Clear picture of which seasons and regions see the most fires.</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Clean dataset with all 7 missing records handled.</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Easy-to-read charts of monthly and continent-wise trends.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PROBLEM &amp; MOTIVATION</a:t>
            </a:r>
            <a:endParaRPr lang="en-US" sz="3000" dirty="0"/>
          </a:p>
        </p:txBody>
      </p:sp>
      <p:sp>
        <p:nvSpPr>
          <p:cNvPr id="3" name="Shape 1"/>
          <p:cNvSpPr/>
          <p:nvPr/>
        </p:nvSpPr>
        <p:spPr>
          <a:xfrm>
            <a:off x="548640" y="859536"/>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sp>
        <p:nvSpPr>
          <p:cNvPr id="4" name="Text 2"/>
          <p:cNvSpPr txBox="1"/>
          <p:nvPr/>
        </p:nvSpPr>
        <p:spPr>
          <a:xfrm>
            <a:off x="822960" y="1097280"/>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PROBLEM STATEMENT</a:t>
            </a:r>
            <a:endParaRPr lang="en-US" sz="1800" dirty="0"/>
          </a:p>
        </p:txBody>
      </p:sp>
      <p:sp>
        <p:nvSpPr>
          <p:cNvPr id="5" name="Text 3"/>
          <p:cNvSpPr txBox="1"/>
          <p:nvPr/>
        </p:nvSpPr>
        <p:spPr>
          <a:xfrm>
            <a:off x="822960" y="1417320"/>
            <a:ext cx="7498080" cy="11887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Forest fires vary widely by region, season and month.</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Monthly records for many regions are hard to compare directly.</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Grouping and charts are needed to reveal seasonal and regional patterns.</a:t>
            </a:r>
            <a:endParaRPr lang="en-US" sz="1500" dirty="0"/>
          </a:p>
        </p:txBody>
      </p:sp>
      <p:sp>
        <p:nvSpPr>
          <p:cNvPr id="6" name="Text 4"/>
          <p:cNvSpPr txBox="1"/>
          <p:nvPr/>
        </p:nvSpPr>
        <p:spPr>
          <a:xfrm>
            <a:off x="822960" y="2368296"/>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MOTIVATION</a:t>
            </a:r>
            <a:endParaRPr lang="en-US" sz="1800" dirty="0"/>
          </a:p>
        </p:txBody>
      </p:sp>
      <p:sp>
        <p:nvSpPr>
          <p:cNvPr id="7" name="Text 5"/>
          <p:cNvSpPr txBox="1"/>
          <p:nvPr/>
        </p:nvSpPr>
        <p:spPr>
          <a:xfrm>
            <a:off x="822960" y="2715768"/>
            <a:ext cx="7498080" cy="7315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Understand when and where fire activity peaks through the year.</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Compare continents and seasons, and turn the numbers into clear charts.</a:t>
            </a:r>
            <a:endParaRPr lang="en-US" sz="1500" dirty="0"/>
          </a:p>
        </p:txBody>
      </p:sp>
      <p:sp>
        <p:nvSpPr>
          <p:cNvPr id="8" name="Text 6"/>
          <p:cNvSpPr txBox="1"/>
          <p:nvPr/>
        </p:nvSpPr>
        <p:spPr>
          <a:xfrm>
            <a:off x="822960" y="3388250"/>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SOURCES / DATASETS</a:t>
            </a:r>
            <a:endParaRPr lang="en-US" sz="1800" dirty="0"/>
          </a:p>
        </p:txBody>
      </p:sp>
      <p:sp>
        <p:nvSpPr>
          <p:cNvPr id="9" name="Text 7"/>
          <p:cNvSpPr txBox="1"/>
          <p:nvPr/>
        </p:nvSpPr>
        <p:spPr>
          <a:xfrm>
            <a:off x="822960" y="3818018"/>
            <a:ext cx="7498080" cy="7315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B1D12"/>
                </a:solidFill>
                <a:latin typeface="Arial" pitchFamily="34" charset="0"/>
                <a:ea typeface="Arial" pitchFamily="34" charset="-122"/>
                <a:cs typeface="Arial" pitchFamily="34" charset="-120"/>
              </a:rPr>
              <a:t>Provided dataset (Excel); labelled simulated / educational data, not real observations.</a:t>
            </a:r>
            <a:endParaRPr lang="en-US" sz="1300" dirty="0"/>
          </a:p>
          <a:p>
            <a:pPr marL="342900" indent="-342900">
              <a:spcAft>
                <a:spcPts val="700"/>
              </a:spcAft>
              <a:buSzPct val="100000"/>
              <a:buChar char="•"/>
            </a:pPr>
            <a:r>
              <a:rPr lang="en-US" sz="1300" dirty="0">
                <a:solidFill>
                  <a:srgbClr val="2B1D12"/>
                </a:solidFill>
                <a:latin typeface="Arial" pitchFamily="34" charset="0"/>
                <a:ea typeface="Arial" pitchFamily="34" charset="-122"/>
                <a:cs typeface="Arial" pitchFamily="34" charset="-120"/>
              </a:rPr>
              <a:t>Dataset: forest_fire_dataset_one_sheet.xlsx  (sheet: Forest_Fire_Data)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TECHNOLOGY STACK &amp; DATASETS</a:t>
            </a:r>
            <a:endParaRPr lang="en-US" sz="3000" dirty="0"/>
          </a:p>
        </p:txBody>
      </p:sp>
      <p:sp>
        <p:nvSpPr>
          <p:cNvPr id="3" name="Shape 1"/>
          <p:cNvSpPr/>
          <p:nvPr/>
        </p:nvSpPr>
        <p:spPr>
          <a:xfrm>
            <a:off x="548640" y="941236"/>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356616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Component</a:t>
                      </a:r>
                      <a:endParaRPr lang="en-US" sz="13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4A2F1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Technology</a:t>
                      </a:r>
                      <a:endParaRPr lang="en-US" sz="13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4A2F1A"/>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Programming</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Python 3.x</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1"/>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Data Processing</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Pandas</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Numerical Analysis</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NumPy</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3"/>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Visualization</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Matplotlib, Seaborn</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Platform</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Jupyter / Google Colab</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26280" y="999876"/>
            <a:ext cx="3840480" cy="1371600"/>
          </a:xfrm>
          <a:prstGeom prst="rect">
            <a:avLst/>
          </a:prstGeom>
          <a:noFill/>
          <a:ln/>
        </p:spPr>
        <p:txBody>
          <a:bodyPr wrap="square" lIns="0" tIns="0" rIns="0" bIns="0" rtlCol="0" anchor="t"/>
          <a:lstStyle/>
          <a:p>
            <a:pPr marL="0" indent="0">
              <a:buNone/>
            </a:pPr>
            <a:r>
              <a:rPr lang="en-US" sz="1500" b="1" dirty="0">
                <a:solidFill>
                  <a:srgbClr val="9A6B12"/>
                </a:solidFill>
                <a:latin typeface="Arial" pitchFamily="34" charset="0"/>
                <a:ea typeface="Arial" pitchFamily="34" charset="-122"/>
                <a:cs typeface="Arial" pitchFamily="34" charset="-120"/>
              </a:rPr>
              <a:t>Dataset – Forest Fire Data</a:t>
            </a:r>
            <a:endParaRPr lang="en-US" sz="1500" dirty="0"/>
          </a:p>
          <a:p>
            <a:pPr lvl="0">
              <a:defRPr/>
            </a:pPr>
            <a:r>
              <a:rPr lang="en-IN" sz="1400" b="1" dirty="0">
                <a:solidFill>
                  <a:srgbClr val="000000"/>
                </a:solidFill>
                <a:latin typeface="Aptos" panose="02110004020202020204"/>
              </a:rPr>
              <a:t>Name:</a:t>
            </a:r>
            <a:r>
              <a:rPr lang="en-IN" sz="1400" dirty="0">
                <a:solidFill>
                  <a:srgbClr val="000000"/>
                </a:solidFill>
                <a:latin typeface="Aptos" panose="02110004020202020204"/>
              </a:rPr>
              <a:t> Forest Fire Data (.xlsx)</a:t>
            </a:r>
            <a:br>
              <a:rPr lang="en-IN" sz="1400" dirty="0">
                <a:solidFill>
                  <a:srgbClr val="000000"/>
                </a:solidFill>
                <a:latin typeface="Aptos" panose="02110004020202020204"/>
              </a:rPr>
            </a:br>
            <a:r>
              <a:rPr lang="en-IN" sz="1400" b="1" dirty="0">
                <a:solidFill>
                  <a:srgbClr val="000000"/>
                </a:solidFill>
                <a:latin typeface="Aptos" panose="02110004020202020204"/>
              </a:rPr>
              <a:t>Rows:</a:t>
            </a:r>
            <a:r>
              <a:rPr lang="en-IN" sz="1400" dirty="0">
                <a:solidFill>
                  <a:srgbClr val="000000"/>
                </a:solidFill>
                <a:latin typeface="Aptos" panose="02110004020202020204"/>
              </a:rPr>
              <a:t> 744   Columns: 11</a:t>
            </a:r>
            <a:br>
              <a:rPr lang="en-IN" sz="1400" dirty="0">
                <a:solidFill>
                  <a:srgbClr val="000000"/>
                </a:solidFill>
                <a:latin typeface="Aptos" panose="02110004020202020204"/>
              </a:rPr>
            </a:br>
            <a:r>
              <a:rPr lang="en-IN" sz="1400" b="1" dirty="0">
                <a:solidFill>
                  <a:srgbClr val="000000"/>
                </a:solidFill>
                <a:latin typeface="Aptos" panose="02110004020202020204"/>
              </a:rPr>
              <a:t>Coverage:</a:t>
            </a:r>
            <a:r>
              <a:rPr lang="en-IN" sz="1400" dirty="0">
                <a:solidFill>
                  <a:srgbClr val="000000"/>
                </a:solidFill>
                <a:latin typeface="Aptos" panose="02110004020202020204"/>
              </a:rPr>
              <a:t> 62 regions, 6 continents</a:t>
            </a:r>
            <a:br>
              <a:rPr lang="en-IN" sz="1400" dirty="0">
                <a:solidFill>
                  <a:srgbClr val="000000"/>
                </a:solidFill>
                <a:latin typeface="Aptos" panose="02110004020202020204"/>
              </a:rPr>
            </a:br>
            <a:r>
              <a:rPr lang="en-IN" sz="1400" b="1" dirty="0">
                <a:solidFill>
                  <a:srgbClr val="000000"/>
                </a:solidFill>
                <a:latin typeface="Aptos" panose="02110004020202020204"/>
              </a:rPr>
              <a:t>Period:</a:t>
            </a:r>
            <a:r>
              <a:rPr lang="en-IN" sz="1400" dirty="0">
                <a:solidFill>
                  <a:srgbClr val="000000"/>
                </a:solidFill>
                <a:latin typeface="Aptos" panose="02110004020202020204"/>
              </a:rPr>
              <a:t> January – December 2024</a:t>
            </a:r>
            <a:br>
              <a:rPr lang="en-IN" sz="1400" dirty="0">
                <a:solidFill>
                  <a:srgbClr val="000000"/>
                </a:solidFill>
                <a:latin typeface="Aptos" panose="02110004020202020204"/>
              </a:rPr>
            </a:br>
            <a:r>
              <a:rPr lang="en-IN" sz="1400" b="1" dirty="0">
                <a:solidFill>
                  <a:srgbClr val="000000"/>
                </a:solidFill>
                <a:latin typeface="Aptos" panose="02110004020202020204"/>
              </a:rPr>
              <a:t>Type:</a:t>
            </a:r>
            <a:r>
              <a:rPr lang="en-IN" sz="1400" dirty="0">
                <a:solidFill>
                  <a:srgbClr val="000000"/>
                </a:solidFill>
                <a:latin typeface="Aptos" panose="02110004020202020204"/>
              </a:rPr>
              <a:t> Simulated / educational</a:t>
            </a:r>
          </a:p>
        </p:txBody>
      </p:sp>
      <p:sp>
        <p:nvSpPr>
          <p:cNvPr id="4" name="Text 3"/>
          <p:cNvSpPr txBox="1"/>
          <p:nvPr/>
        </p:nvSpPr>
        <p:spPr>
          <a:xfrm>
            <a:off x="4526280" y="2589144"/>
            <a:ext cx="3840480" cy="1554480"/>
          </a:xfrm>
          <a:prstGeom prst="rect">
            <a:avLst/>
          </a:prstGeom>
          <a:noFill/>
          <a:ln/>
        </p:spPr>
        <p:txBody>
          <a:bodyPr wrap="square" lIns="0" tIns="0" rIns="0" bIns="0" rtlCol="0" anchor="t"/>
          <a:lstStyle/>
          <a:p>
            <a:pPr marL="0" indent="0">
              <a:buNone/>
            </a:pPr>
            <a:r>
              <a:rPr lang="en-US" sz="1500" b="1" dirty="0">
                <a:solidFill>
                  <a:srgbClr val="9A6B12"/>
                </a:solidFill>
                <a:latin typeface="Arial" pitchFamily="34" charset="0"/>
                <a:ea typeface="Arial" pitchFamily="34" charset="-122"/>
                <a:cs typeface="Arial" pitchFamily="34" charset="-120"/>
              </a:rPr>
              <a:t>Key Columns</a:t>
            </a:r>
            <a:endParaRPr lang="en-US" sz="1500" dirty="0"/>
          </a:p>
          <a:p>
            <a:pPr lvl="0">
              <a:defRPr/>
            </a:pPr>
            <a:r>
              <a:rPr lang="en-US" sz="1400" b="1" dirty="0">
                <a:solidFill>
                  <a:srgbClr val="000000"/>
                </a:solidFill>
                <a:latin typeface="Aptos" panose="02110004020202020204"/>
              </a:rPr>
              <a:t>Fire Count: </a:t>
            </a:r>
            <a:r>
              <a:rPr lang="en-US" sz="1400" dirty="0">
                <a:solidFill>
                  <a:srgbClr val="000000"/>
                </a:solidFill>
                <a:latin typeface="Aptos" panose="02110004020202020204"/>
              </a:rPr>
              <a:t>fires per region-month</a:t>
            </a:r>
          </a:p>
          <a:p>
            <a:pPr lvl="0">
              <a:defRPr/>
            </a:pPr>
            <a:r>
              <a:rPr lang="en-US" sz="1400" b="1" dirty="0">
                <a:solidFill>
                  <a:srgbClr val="000000"/>
                </a:solidFill>
                <a:latin typeface="Aptos" panose="02110004020202020204"/>
              </a:rPr>
              <a:t>Burned Area: </a:t>
            </a:r>
            <a:r>
              <a:rPr lang="en-US" sz="1400" dirty="0">
                <a:solidFill>
                  <a:srgbClr val="000000"/>
                </a:solidFill>
                <a:latin typeface="Aptos" panose="02110004020202020204"/>
              </a:rPr>
              <a:t>estimated km²</a:t>
            </a:r>
          </a:p>
          <a:p>
            <a:pPr lvl="0">
              <a:defRPr/>
            </a:pPr>
            <a:r>
              <a:rPr lang="en-US" sz="1400" b="1" dirty="0">
                <a:solidFill>
                  <a:srgbClr val="000000"/>
                </a:solidFill>
                <a:latin typeface="Aptos" panose="02110004020202020204"/>
              </a:rPr>
              <a:t>Season: </a:t>
            </a:r>
            <a:r>
              <a:rPr lang="en-US" sz="1400" dirty="0">
                <a:solidFill>
                  <a:srgbClr val="000000"/>
                </a:solidFill>
                <a:latin typeface="Aptos" panose="02110004020202020204"/>
              </a:rPr>
              <a:t>Winter–Autumn, Wet/Dry</a:t>
            </a:r>
            <a:endParaRPr lang="en-US" sz="1400" b="1" dirty="0">
              <a:solidFill>
                <a:srgbClr val="000000"/>
              </a:solidFill>
              <a:latin typeface="Aptos" panose="02110004020202020204"/>
            </a:endParaRPr>
          </a:p>
          <a:p>
            <a:pPr lvl="0">
              <a:defRPr/>
            </a:pPr>
            <a:r>
              <a:rPr lang="en-US" sz="1400" b="1" dirty="0">
                <a:solidFill>
                  <a:srgbClr val="000000"/>
                </a:solidFill>
                <a:latin typeface="Aptos" panose="02110004020202020204"/>
              </a:rPr>
              <a:t>Impact: </a:t>
            </a:r>
            <a:r>
              <a:rPr lang="en-US" sz="1400" dirty="0">
                <a:solidFill>
                  <a:srgbClr val="000000"/>
                </a:solidFill>
                <a:latin typeface="Aptos" panose="02110004020202020204"/>
              </a:rPr>
              <a:t>Low / Moderate / High</a:t>
            </a:r>
          </a:p>
          <a:p>
            <a:pPr lvl="0">
              <a:defRPr/>
            </a:pPr>
            <a:r>
              <a:rPr lang="en-US" sz="1400" b="1" dirty="0">
                <a:solidFill>
                  <a:srgbClr val="000000"/>
                </a:solidFill>
                <a:latin typeface="Aptos" panose="02110004020202020204"/>
              </a:rPr>
              <a:t>Missing: </a:t>
            </a:r>
            <a:r>
              <a:rPr lang="en-US" sz="1400" dirty="0">
                <a:solidFill>
                  <a:srgbClr val="000000"/>
                </a:solidFill>
                <a:latin typeface="Aptos" panose="02110004020202020204"/>
              </a:rPr>
              <a:t>7 records (cleaned)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1"/>
          <p:cNvSpPr/>
          <p:nvPr/>
        </p:nvSpPr>
        <p:spPr>
          <a:xfrm>
            <a:off x="458607" y="679133"/>
            <a:ext cx="8274423" cy="1912875"/>
          </a:xfrm>
          <a:prstGeom prst="roundRect">
            <a:avLst>
              <a:gd name="adj" fmla="val 2000"/>
            </a:avLst>
          </a:prstGeom>
          <a:solidFill>
            <a:srgbClr val="F6F0DE"/>
          </a:solidFill>
          <a:ln w="12700">
            <a:solidFill>
              <a:srgbClr val="B79F6B"/>
            </a:solidFill>
            <a:prstDash val="solid"/>
          </a:ln>
        </p:spPr>
        <p:txBody>
          <a:bodyPr/>
          <a:lstStyle/>
          <a:p>
            <a:pPr marL="274320"/>
            <a:endParaRPr lang="en-US" sz="1600" dirty="0"/>
          </a:p>
        </p:txBody>
      </p:sp>
      <p:sp>
        <p:nvSpPr>
          <p:cNvPr id="2" name="Text 0"/>
          <p:cNvSpPr txBox="1"/>
          <p:nvPr/>
        </p:nvSpPr>
        <p:spPr>
          <a:xfrm>
            <a:off x="292122" y="169528"/>
            <a:ext cx="7680960" cy="548640"/>
          </a:xfrm>
          <a:prstGeom prst="rect">
            <a:avLst/>
          </a:prstGeom>
          <a:noFill/>
          <a:ln/>
        </p:spPr>
        <p:txBody>
          <a:bodyPr wrap="square" lIns="0" tIns="0" rIns="0" bIns="0" rtlCol="0" anchor="ctr"/>
          <a:lstStyle/>
          <a:p>
            <a:pPr marL="274320"/>
            <a:r>
              <a:rPr lang="en-US" sz="2800" b="1" dirty="0">
                <a:solidFill>
                  <a:srgbClr val="4A2F1A"/>
                </a:solidFill>
                <a:latin typeface="Georgia" pitchFamily="34" charset="0"/>
                <a:ea typeface="Georgia" pitchFamily="34" charset="-122"/>
                <a:cs typeface="Georgia" pitchFamily="34" charset="-120"/>
              </a:rPr>
              <a:t>ACTION PLAN</a:t>
            </a:r>
            <a:endParaRPr lang="en-US" sz="2800" dirty="0"/>
          </a:p>
        </p:txBody>
      </p:sp>
      <p:sp>
        <p:nvSpPr>
          <p:cNvPr id="4" name="Text 2"/>
          <p:cNvSpPr txBox="1"/>
          <p:nvPr/>
        </p:nvSpPr>
        <p:spPr>
          <a:xfrm>
            <a:off x="571896" y="694226"/>
            <a:ext cx="7498080" cy="699516"/>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1: Setup</a:t>
            </a:r>
            <a:endParaRPr lang="en-US" sz="1600" dirty="0"/>
          </a:p>
        </p:txBody>
      </p:sp>
      <p:sp>
        <p:nvSpPr>
          <p:cNvPr id="5" name="Text 3"/>
          <p:cNvSpPr txBox="1"/>
          <p:nvPr/>
        </p:nvSpPr>
        <p:spPr>
          <a:xfrm>
            <a:off x="1152306" y="916509"/>
            <a:ext cx="7498080" cy="278892"/>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Load the Excel file in Google Colab; check data types and statistics.</a:t>
            </a:r>
            <a:endParaRPr lang="en-US" sz="1600" dirty="0"/>
          </a:p>
        </p:txBody>
      </p:sp>
      <p:sp>
        <p:nvSpPr>
          <p:cNvPr id="6" name="Text 4"/>
          <p:cNvSpPr txBox="1"/>
          <p:nvPr/>
        </p:nvSpPr>
        <p:spPr>
          <a:xfrm>
            <a:off x="571896" y="1167092"/>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2: Cleaning</a:t>
            </a:r>
            <a:endParaRPr lang="en-US" sz="1600" dirty="0"/>
          </a:p>
        </p:txBody>
      </p:sp>
      <p:sp>
        <p:nvSpPr>
          <p:cNvPr id="7" name="Text 5"/>
          <p:cNvSpPr txBox="1"/>
          <p:nvPr/>
        </p:nvSpPr>
        <p:spPr>
          <a:xfrm>
            <a:off x="1152306" y="1412326"/>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Fill the 7 missing records using region-wise medians; rename columns.</a:t>
            </a:r>
            <a:endParaRPr lang="en-US" sz="1600" dirty="0"/>
          </a:p>
        </p:txBody>
      </p:sp>
      <p:sp>
        <p:nvSpPr>
          <p:cNvPr id="8" name="Text 6"/>
          <p:cNvSpPr txBox="1"/>
          <p:nvPr/>
        </p:nvSpPr>
        <p:spPr>
          <a:xfrm>
            <a:off x="555712" y="1635571"/>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3: Analysis</a:t>
            </a:r>
            <a:endParaRPr lang="en-US" sz="1600" dirty="0"/>
          </a:p>
        </p:txBody>
      </p:sp>
      <p:sp>
        <p:nvSpPr>
          <p:cNvPr id="9" name="Text 7"/>
          <p:cNvSpPr txBox="1"/>
          <p:nvPr/>
        </p:nvSpPr>
        <p:spPr>
          <a:xfrm>
            <a:off x="1168490" y="1866959"/>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Average incidence, region filters, season/region groups, monthly trends.</a:t>
            </a:r>
            <a:endParaRPr lang="en-US" sz="1600" dirty="0"/>
          </a:p>
        </p:txBody>
      </p:sp>
      <p:sp>
        <p:nvSpPr>
          <p:cNvPr id="10" name="Text 8"/>
          <p:cNvSpPr txBox="1"/>
          <p:nvPr/>
        </p:nvSpPr>
        <p:spPr>
          <a:xfrm>
            <a:off x="571896" y="2063630"/>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4: Report</a:t>
            </a:r>
            <a:endParaRPr lang="en-US" sz="1600" dirty="0"/>
          </a:p>
        </p:txBody>
      </p:sp>
      <p:sp>
        <p:nvSpPr>
          <p:cNvPr id="11" name="Text 9"/>
          <p:cNvSpPr txBox="1"/>
          <p:nvPr/>
        </p:nvSpPr>
        <p:spPr>
          <a:xfrm>
            <a:off x="1168490" y="2280916"/>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Draw subplots; organize findings, charts and code into report and slides.</a:t>
            </a:r>
            <a:endParaRPr lang="en-US" sz="1600" dirty="0"/>
          </a:p>
        </p:txBody>
      </p:sp>
      <p:sp>
        <p:nvSpPr>
          <p:cNvPr id="17" name="Shape 1">
            <a:extLst>
              <a:ext uri="{FF2B5EF4-FFF2-40B4-BE49-F238E27FC236}">
                <a16:creationId xmlns:a16="http://schemas.microsoft.com/office/drawing/2014/main" id="{AFBF2BC9-9C3F-7FBD-82F4-5101F4461F83}"/>
              </a:ext>
            </a:extLst>
          </p:cNvPr>
          <p:cNvSpPr/>
          <p:nvPr/>
        </p:nvSpPr>
        <p:spPr>
          <a:xfrm>
            <a:off x="477430" y="2630567"/>
            <a:ext cx="8172956" cy="2176103"/>
          </a:xfrm>
          <a:prstGeom prst="roundRect">
            <a:avLst>
              <a:gd name="adj" fmla="val 2000"/>
            </a:avLst>
          </a:prstGeom>
          <a:solidFill>
            <a:srgbClr val="F6F0DE"/>
          </a:solidFill>
          <a:ln w="12700">
            <a:solidFill>
              <a:srgbClr val="B79F6B"/>
            </a:solidFill>
            <a:prstDash val="solid"/>
          </a:ln>
        </p:spPr>
        <p:txBody>
          <a:bodyPr/>
          <a:lstStyle/>
          <a:p>
            <a:pPr marL="274320"/>
            <a:endParaRPr lang="en-US" sz="1600" dirty="0"/>
          </a:p>
        </p:txBody>
      </p:sp>
      <p:sp>
        <p:nvSpPr>
          <p:cNvPr id="19" name="TextBox 18">
            <a:extLst>
              <a:ext uri="{FF2B5EF4-FFF2-40B4-BE49-F238E27FC236}">
                <a16:creationId xmlns:a16="http://schemas.microsoft.com/office/drawing/2014/main" id="{67A864FA-4994-7656-4ADE-995E6E175C5E}"/>
              </a:ext>
            </a:extLst>
          </p:cNvPr>
          <p:cNvSpPr txBox="1"/>
          <p:nvPr/>
        </p:nvSpPr>
        <p:spPr>
          <a:xfrm>
            <a:off x="664357" y="2590679"/>
            <a:ext cx="5517960" cy="800219"/>
          </a:xfrm>
          <a:prstGeom prst="rect">
            <a:avLst/>
          </a:prstGeom>
          <a:noFill/>
        </p:spPr>
        <p:txBody>
          <a:bodyPr wrap="square" rtlCol="0">
            <a:spAutoFit/>
          </a:bodyPr>
          <a:lstStyle/>
          <a:p>
            <a:r>
              <a:rPr lang="en-US" sz="2800" b="1" u="sng" dirty="0">
                <a:solidFill>
                  <a:srgbClr val="4A2F1A"/>
                </a:solidFill>
                <a:latin typeface="Georgia" pitchFamily="34" charset="0"/>
                <a:ea typeface="Georgia" pitchFamily="34" charset="-122"/>
                <a:cs typeface="Georgia" pitchFamily="34" charset="-120"/>
              </a:rPr>
              <a:t>SUMMARY</a:t>
            </a:r>
            <a:endParaRPr lang="en-US" sz="2800" u="sng" dirty="0"/>
          </a:p>
          <a:p>
            <a:endParaRPr lang="en-US" u="sng" dirty="0"/>
          </a:p>
        </p:txBody>
      </p:sp>
      <p:sp>
        <p:nvSpPr>
          <p:cNvPr id="20" name="TextBox 19">
            <a:extLst>
              <a:ext uri="{FF2B5EF4-FFF2-40B4-BE49-F238E27FC236}">
                <a16:creationId xmlns:a16="http://schemas.microsoft.com/office/drawing/2014/main" id="{A597CF70-7E97-D061-ABF1-0A1C06BEF542}"/>
              </a:ext>
            </a:extLst>
          </p:cNvPr>
          <p:cNvSpPr txBox="1"/>
          <p:nvPr/>
        </p:nvSpPr>
        <p:spPr>
          <a:xfrm>
            <a:off x="571896" y="3091643"/>
            <a:ext cx="7940925" cy="1815882"/>
          </a:xfrm>
          <a:prstGeom prst="rect">
            <a:avLst/>
          </a:prstGeom>
          <a:noFill/>
        </p:spPr>
        <p:txBody>
          <a:bodyPr wrap="square" rtlCol="0">
            <a:spAutoFit/>
          </a:bodyPr>
          <a:lstStyle/>
          <a:p>
            <a:r>
              <a:rPr lang="en-US" sz="1600" dirty="0"/>
              <a:t>Monthly forest fire records for 62 regions were loaded into Python using Pandas, cleaned, filtered and grouped by region and season. The average was about 26.6 fires per region per month, with Summer and the tropical Dry season the busiest. Combined global totals look flat, but continent-wise charts show clear seasonal peaks. Matplotlib and Seaborn subplots present the trends. The data is simulated, so the results illustrate the method, not real fire statistics.</a:t>
            </a:r>
          </a:p>
          <a:p>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0166" y="478302"/>
            <a:ext cx="8222565" cy="4192171"/>
          </a:xfrm>
          <a:prstGeom prst="roundRect">
            <a:avLst>
              <a:gd name="adj" fmla="val 3636"/>
            </a:avLst>
          </a:prstGeom>
          <a:solidFill>
            <a:srgbClr val="F6F0DE"/>
          </a:solidFill>
          <a:ln w="12700">
            <a:solidFill>
              <a:srgbClr val="B79F6B"/>
            </a:solidFill>
            <a:prstDash val="solid"/>
          </a:ln>
        </p:spPr>
        <p:txBody>
          <a:bodyPr/>
          <a:lstStyle/>
          <a:p>
            <a:endParaRPr lang="en-US"/>
          </a:p>
        </p:txBody>
      </p:sp>
      <p:sp>
        <p:nvSpPr>
          <p:cNvPr id="3" name="Text 1"/>
          <p:cNvSpPr txBox="1"/>
          <p:nvPr/>
        </p:nvSpPr>
        <p:spPr>
          <a:xfrm>
            <a:off x="2103120" y="2011680"/>
            <a:ext cx="4937760" cy="822960"/>
          </a:xfrm>
          <a:prstGeom prst="rect">
            <a:avLst/>
          </a:prstGeom>
          <a:noFill/>
          <a:ln/>
        </p:spPr>
        <p:txBody>
          <a:bodyPr wrap="square" lIns="0" tIns="0" rIns="0" bIns="0" rtlCol="0" anchor="t"/>
          <a:lstStyle/>
          <a:p>
            <a:pPr marL="0" indent="0" algn="ctr">
              <a:buNone/>
            </a:pPr>
            <a:r>
              <a:rPr lang="en-US" sz="4400" b="1" dirty="0">
                <a:solidFill>
                  <a:srgbClr val="4A2F1A"/>
                </a:solidFill>
                <a:latin typeface="Georgia" pitchFamily="34" charset="0"/>
                <a:ea typeface="Georgia" pitchFamily="34" charset="-122"/>
                <a:cs typeface="Georgia" pitchFamily="34" charset="-120"/>
              </a:rPr>
              <a:t>THANK YOU</a:t>
            </a:r>
            <a:endParaRPr lang="en-US" sz="4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660</Words>
  <Application>Microsoft Office PowerPoint</Application>
  <PresentationFormat>On-screen Show (16:9)</PresentationFormat>
  <Paragraphs>74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chipurisandhyayadav26@outlook.com</cp:lastModifiedBy>
  <cp:revision>5</cp:revision>
  <dcterms:created xsi:type="dcterms:W3CDTF">2026-10-13T05:08:45Z</dcterms:created>
  <dcterms:modified xsi:type="dcterms:W3CDTF">2026-10-15T17:59:05Z</dcterms:modified>
</cp:coreProperties>
</file>